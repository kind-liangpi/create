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handoutMasterIdLst>
    <p:handoutMasterId r:id="rId14"/>
  </p:handoutMasterIdLst>
  <p:sldIdLst>
    <p:sldId id="256" r:id="rId3"/>
    <p:sldId id="257" r:id="rId4"/>
    <p:sldId id="276" r:id="rId5"/>
    <p:sldId id="259" r:id="rId6"/>
    <p:sldId id="267" r:id="rId7"/>
    <p:sldId id="265" r:id="rId9"/>
    <p:sldId id="269" r:id="rId10"/>
    <p:sldId id="277" r:id="rId11"/>
    <p:sldId id="278" r:id="rId12"/>
    <p:sldId id="274" r:id="rId13"/>
  </p:sldIdLst>
  <p:sldSz cx="18288000" cy="10287000"/>
  <p:notesSz cx="6858000" cy="9144000"/>
  <p:embeddedFontLs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6" d="100"/>
          <a:sy n="56" d="100"/>
        </p:scale>
        <p:origin x="-336" y="72"/>
      </p:cViewPr>
      <p:guideLst>
        <p:guide orient="horz" pos="2059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image" Target="../media/image2.jpe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8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image" Target="../media/image3.png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4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06880" y="0"/>
            <a:ext cx="7381120" cy="10287000"/>
            <a:chOff x="0" y="0"/>
            <a:chExt cx="194399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3999" cy="2709333"/>
            </a:xfrm>
            <a:custGeom>
              <a:avLst/>
              <a:gdLst/>
              <a:ahLst/>
              <a:cxnLst/>
              <a:rect l="l" t="t" r="r" b="b"/>
              <a:pathLst>
                <a:path w="1943999" h="2709333">
                  <a:moveTo>
                    <a:pt x="0" y="0"/>
                  </a:moveTo>
                  <a:lnTo>
                    <a:pt x="1943999" y="0"/>
                  </a:lnTo>
                  <a:lnTo>
                    <a:pt x="19439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3537" y="-8733405"/>
            <a:ext cx="1405794" cy="25506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70"/>
              </a:lnSpc>
            </a:pPr>
            <a:r>
              <a:rPr lang="en-US" sz="9260" spc="351">
                <a:solidFill>
                  <a:srgbClr val="9D0101">
                    <a:alpha val="2666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SHANDONG UNIVERSITY</a:t>
            </a:r>
            <a:endParaRPr lang="en-US" sz="9260" spc="351">
              <a:solidFill>
                <a:srgbClr val="9D0101">
                  <a:alpha val="2666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996122" y="1921962"/>
            <a:ext cx="14309421" cy="6994221"/>
            <a:chOff x="0" y="0"/>
            <a:chExt cx="3768736" cy="18420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8736" cy="1842099"/>
            </a:xfrm>
            <a:custGeom>
              <a:avLst/>
              <a:gdLst/>
              <a:ahLst/>
              <a:cxnLst/>
              <a:rect l="l" t="t" r="r" b="b"/>
              <a:pathLst>
                <a:path w="3768736" h="1842099">
                  <a:moveTo>
                    <a:pt x="0" y="0"/>
                  </a:moveTo>
                  <a:lnTo>
                    <a:pt x="3768736" y="0"/>
                  </a:lnTo>
                  <a:lnTo>
                    <a:pt x="3768736" y="1842099"/>
                  </a:lnTo>
                  <a:lnTo>
                    <a:pt x="0" y="1842099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6435" y="1746598"/>
            <a:ext cx="14309421" cy="6994221"/>
            <a:chOff x="0" y="0"/>
            <a:chExt cx="3768736" cy="18420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68736" cy="1842099"/>
            </a:xfrm>
            <a:custGeom>
              <a:avLst/>
              <a:gdLst/>
              <a:ahLst/>
              <a:cxnLst/>
              <a:rect l="l" t="t" r="r" b="b"/>
              <a:pathLst>
                <a:path w="3768736" h="1842099">
                  <a:moveTo>
                    <a:pt x="0" y="0"/>
                  </a:moveTo>
                  <a:lnTo>
                    <a:pt x="3768736" y="0"/>
                  </a:lnTo>
                  <a:lnTo>
                    <a:pt x="3768736" y="1842099"/>
                  </a:lnTo>
                  <a:lnTo>
                    <a:pt x="0" y="184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19967" y="7453081"/>
            <a:ext cx="2410399" cy="550485"/>
            <a:chOff x="0" y="0"/>
            <a:chExt cx="3213865" cy="73398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3213865" cy="733980"/>
              <a:chOff x="0" y="0"/>
              <a:chExt cx="630757" cy="14405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757" cy="144052"/>
              </a:xfrm>
              <a:custGeom>
                <a:avLst/>
                <a:gdLst/>
                <a:ahLst/>
                <a:cxnLst/>
                <a:rect l="l" t="t" r="r" b="b"/>
                <a:pathLst>
                  <a:path w="630757" h="144052">
                    <a:moveTo>
                      <a:pt x="0" y="0"/>
                    </a:moveTo>
                    <a:lnTo>
                      <a:pt x="630757" y="0"/>
                    </a:lnTo>
                    <a:lnTo>
                      <a:pt x="630757" y="144052"/>
                    </a:lnTo>
                    <a:lnTo>
                      <a:pt x="0" y="144052"/>
                    </a:lnTo>
                    <a:close/>
                  </a:path>
                </a:pathLst>
              </a:custGeom>
              <a:solidFill>
                <a:srgbClr val="9D0101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5"/>
                  </a:lnSpc>
                </a:pPr>
                <a:endParaRPr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30179" y="73327"/>
              <a:ext cx="3052701" cy="58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20"/>
                </a:lnSpc>
              </a:pPr>
              <a:r>
                <a:rPr lang="en-US" sz="244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汇报人：</a:t>
              </a:r>
              <a:r>
                <a:rPr lang="zh-CN" altLang="en-US" sz="244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刘艳琦</a:t>
              </a:r>
              <a:endParaRPr lang="zh-CN" altLang="en-US" sz="244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55502" y="4757885"/>
            <a:ext cx="6209600" cy="557997"/>
            <a:chOff x="0" y="0"/>
            <a:chExt cx="21298506" cy="19138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298506" cy="1913890"/>
            </a:xfrm>
            <a:custGeom>
              <a:avLst/>
              <a:gdLst/>
              <a:ahLst/>
              <a:cxnLst/>
              <a:rect l="l" t="t" r="r" b="b"/>
              <a:pathLst>
                <a:path w="21298506" h="1913890">
                  <a:moveTo>
                    <a:pt x="21174046" y="59690"/>
                  </a:moveTo>
                  <a:cubicBezTo>
                    <a:pt x="21209606" y="59690"/>
                    <a:pt x="21238815" y="88900"/>
                    <a:pt x="21238815" y="124460"/>
                  </a:cubicBezTo>
                  <a:lnTo>
                    <a:pt x="21238815" y="1789430"/>
                  </a:lnTo>
                  <a:cubicBezTo>
                    <a:pt x="21238815" y="1824990"/>
                    <a:pt x="21209606" y="1854200"/>
                    <a:pt x="21174046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174046" y="59690"/>
                  </a:lnTo>
                  <a:moveTo>
                    <a:pt x="211740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21174046" y="1913890"/>
                  </a:lnTo>
                  <a:cubicBezTo>
                    <a:pt x="21242626" y="1913890"/>
                    <a:pt x="21298506" y="1858010"/>
                    <a:pt x="21298506" y="1789430"/>
                  </a:cubicBezTo>
                  <a:lnTo>
                    <a:pt x="21298506" y="124460"/>
                  </a:lnTo>
                  <a:cubicBezTo>
                    <a:pt x="21298506" y="55880"/>
                    <a:pt x="21242626" y="0"/>
                    <a:pt x="211740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2400" y="0"/>
            <a:ext cx="3623200" cy="36232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743200" y="3384550"/>
            <a:ext cx="11523345" cy="14484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ts val="11670"/>
              </a:lnSpc>
            </a:pPr>
            <a:r>
              <a:rPr lang="zh-CN" altLang="en-US" sz="5400" spc="35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sz="5400" spc="35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PID</a:t>
            </a:r>
            <a:r>
              <a:rPr lang="zh-CN" altLang="en-US" sz="5400" spc="35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算法的高精度温度控制系统</a:t>
            </a:r>
            <a:endParaRPr lang="zh-CN" altLang="en-US" sz="5400" spc="35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556403" y="2045110"/>
            <a:ext cx="1405794" cy="25506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70"/>
              </a:lnSpc>
            </a:pPr>
            <a:r>
              <a:rPr lang="en-US" sz="9260" spc="351">
                <a:solidFill>
                  <a:srgbClr val="FFFFFF">
                    <a:alpha val="2666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SHANDONG  UNIVERSITY</a:t>
            </a:r>
            <a:endParaRPr lang="en-US" sz="9260" spc="351">
              <a:solidFill>
                <a:srgbClr val="FFFFFF">
                  <a:alpha val="2666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849332" y="1902912"/>
            <a:ext cx="1234773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000" spc="-800">
                <a:solidFill>
                  <a:srgbClr val="9D010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···</a:t>
            </a:r>
            <a:endParaRPr lang="en-US" sz="4000" spc="-800">
              <a:solidFill>
                <a:srgbClr val="9D010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35350" y="7497427"/>
            <a:ext cx="342975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lang="en-US" sz="2445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汇报时间：2025/3/13</a:t>
            </a:r>
            <a:endParaRPr lang="en-US" sz="2445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277860" y="5334635"/>
            <a:ext cx="5852795" cy="615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zh-CN" altLang="en-US" sz="3200">
                <a:solidFill>
                  <a:srgbClr val="1E1F2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>
                <a:solidFill>
                  <a:srgbClr val="1E1F2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>
                <a:solidFill>
                  <a:srgbClr val="1E1F2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次汇报</a:t>
            </a:r>
            <a:r>
              <a:rPr lang="en-US" altLang="zh-CN" sz="3200">
                <a:solidFill>
                  <a:srgbClr val="1E1F2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3200">
                <a:solidFill>
                  <a:srgbClr val="1E1F2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方案确定与分工</a:t>
            </a:r>
            <a:endParaRPr lang="zh-CN" altLang="en-US" sz="3200">
              <a:solidFill>
                <a:srgbClr val="1E1F2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r">
              <a:lnSpc>
                <a:spcPts val="2400"/>
              </a:lnSpc>
            </a:pPr>
            <a:endParaRPr lang="zh-CN" altLang="en-US" sz="3200" spc="-1">
              <a:solidFill>
                <a:srgbClr val="1E1F2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24780" y="6471285"/>
            <a:ext cx="8768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+mn-ea"/>
                <a:cs typeface="+mn-ea"/>
              </a:rPr>
              <a:t>小组成员：组长：刘艳琦</a:t>
            </a:r>
            <a:r>
              <a:rPr lang="en-US" altLang="zh-CN" sz="2400">
                <a:latin typeface="+mn-ea"/>
                <a:cs typeface="+mn-ea"/>
              </a:rPr>
              <a:t>|</a:t>
            </a:r>
            <a:r>
              <a:rPr lang="zh-CN" altLang="en-US" sz="2400">
                <a:latin typeface="+mn-ea"/>
                <a:cs typeface="+mn-ea"/>
              </a:rPr>
              <a:t>组员：刘炎彤</a:t>
            </a:r>
            <a:r>
              <a:rPr lang="en-US" altLang="zh-CN" sz="2400">
                <a:latin typeface="+mn-ea"/>
                <a:cs typeface="+mn-ea"/>
              </a:rPr>
              <a:t> </a:t>
            </a:r>
            <a:r>
              <a:rPr lang="zh-CN" altLang="en-US" sz="2400">
                <a:latin typeface="+mn-ea"/>
                <a:cs typeface="+mn-ea"/>
              </a:rPr>
              <a:t>刘研硕</a:t>
            </a:r>
            <a:r>
              <a:rPr lang="en-US" altLang="zh-CN" sz="2400">
                <a:latin typeface="+mn-ea"/>
                <a:cs typeface="+mn-ea"/>
              </a:rPr>
              <a:t> </a:t>
            </a:r>
            <a:r>
              <a:rPr lang="zh-CN" altLang="en-US" sz="2400">
                <a:latin typeface="+mn-ea"/>
                <a:cs typeface="+mn-ea"/>
              </a:rPr>
              <a:t>邢珂晨</a:t>
            </a:r>
            <a:r>
              <a:rPr lang="en-US" altLang="zh-CN" sz="2400">
                <a:latin typeface="+mn-ea"/>
                <a:cs typeface="+mn-ea"/>
              </a:rPr>
              <a:t> </a:t>
            </a:r>
            <a:r>
              <a:rPr lang="zh-CN" altLang="en-US" sz="2400">
                <a:latin typeface="+mn-ea"/>
                <a:cs typeface="+mn-ea"/>
              </a:rPr>
              <a:t>徐子茜</a:t>
            </a:r>
            <a:endParaRPr lang="zh-CN" altLang="en-US" sz="2400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3983" y="0"/>
            <a:ext cx="4299718" cy="10287000"/>
            <a:chOff x="0" y="0"/>
            <a:chExt cx="11324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2436" cy="2709333"/>
            </a:xfrm>
            <a:custGeom>
              <a:avLst/>
              <a:gdLst/>
              <a:ahLst/>
              <a:cxnLst/>
              <a:rect l="l" t="t" r="r" b="b"/>
              <a:pathLst>
                <a:path w="1132436" h="2709333">
                  <a:moveTo>
                    <a:pt x="0" y="0"/>
                  </a:moveTo>
                  <a:lnTo>
                    <a:pt x="1132436" y="0"/>
                  </a:lnTo>
                  <a:lnTo>
                    <a:pt x="11324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"/>
          <p:cNvGrpSpPr/>
          <p:nvPr>
            <p:custDataLst>
              <p:tags r:id="rId1"/>
            </p:custDataLst>
          </p:nvPr>
        </p:nvGrpSpPr>
        <p:grpSpPr>
          <a:xfrm>
            <a:off x="7658736" y="2407732"/>
            <a:ext cx="2560316" cy="201976"/>
            <a:chOff x="0" y="0"/>
            <a:chExt cx="571386" cy="45075"/>
          </a:xfrm>
        </p:grpSpPr>
        <p:sp>
          <p:nvSpPr>
            <p:cNvPr id="6" name="Freeform 6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571386" cy="45075"/>
            </a:xfrm>
            <a:custGeom>
              <a:avLst/>
              <a:gdLst/>
              <a:ahLst/>
              <a:cxnLst/>
              <a:rect l="l" t="t" r="r" b="b"/>
              <a:pathLst>
                <a:path w="571386" h="45075">
                  <a:moveTo>
                    <a:pt x="0" y="0"/>
                  </a:moveTo>
                  <a:lnTo>
                    <a:pt x="571386" y="0"/>
                  </a:lnTo>
                  <a:lnTo>
                    <a:pt x="571386" y="45075"/>
                  </a:lnTo>
                  <a:lnTo>
                    <a:pt x="0" y="45075"/>
                  </a:lnTo>
                  <a:close/>
                </a:path>
              </a:pathLst>
            </a:custGeom>
            <a:solidFill>
              <a:srgbClr val="BB0101">
                <a:alpha val="33725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8"/>
          <p:cNvGrpSpPr/>
          <p:nvPr>
            <p:custDataLst>
              <p:tags r:id="rId3"/>
            </p:custDataLst>
          </p:nvPr>
        </p:nvGrpSpPr>
        <p:grpSpPr>
          <a:xfrm>
            <a:off x="7627563" y="6214587"/>
            <a:ext cx="2560316" cy="201976"/>
            <a:chOff x="0" y="0"/>
            <a:chExt cx="571386" cy="45075"/>
          </a:xfrm>
        </p:grpSpPr>
        <p:sp>
          <p:nvSpPr>
            <p:cNvPr id="9" name="Freeform 9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571386" cy="45075"/>
            </a:xfrm>
            <a:custGeom>
              <a:avLst/>
              <a:gdLst/>
              <a:ahLst/>
              <a:cxnLst/>
              <a:rect l="l" t="t" r="r" b="b"/>
              <a:pathLst>
                <a:path w="571386" h="45075">
                  <a:moveTo>
                    <a:pt x="0" y="0"/>
                  </a:moveTo>
                  <a:lnTo>
                    <a:pt x="571386" y="0"/>
                  </a:lnTo>
                  <a:lnTo>
                    <a:pt x="571386" y="45075"/>
                  </a:lnTo>
                  <a:lnTo>
                    <a:pt x="0" y="45075"/>
                  </a:lnTo>
                  <a:close/>
                </a:path>
              </a:pathLst>
            </a:custGeom>
            <a:solidFill>
              <a:srgbClr val="BB0101">
                <a:alpha val="33725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11"/>
          <p:cNvGrpSpPr/>
          <p:nvPr>
            <p:custDataLst>
              <p:tags r:id="rId5"/>
            </p:custDataLst>
          </p:nvPr>
        </p:nvGrpSpPr>
        <p:grpSpPr>
          <a:xfrm>
            <a:off x="7627563" y="4288207"/>
            <a:ext cx="2560316" cy="201976"/>
            <a:chOff x="0" y="0"/>
            <a:chExt cx="571386" cy="45075"/>
          </a:xfrm>
        </p:grpSpPr>
        <p:sp>
          <p:nvSpPr>
            <p:cNvPr id="12" name="Freeform 12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386" cy="45075"/>
            </a:xfrm>
            <a:custGeom>
              <a:avLst/>
              <a:gdLst/>
              <a:ahLst/>
              <a:cxnLst/>
              <a:rect l="l" t="t" r="r" b="b"/>
              <a:pathLst>
                <a:path w="571386" h="45075">
                  <a:moveTo>
                    <a:pt x="0" y="0"/>
                  </a:moveTo>
                  <a:lnTo>
                    <a:pt x="571386" y="0"/>
                  </a:lnTo>
                  <a:lnTo>
                    <a:pt x="571386" y="45075"/>
                  </a:lnTo>
                  <a:lnTo>
                    <a:pt x="0" y="45075"/>
                  </a:lnTo>
                  <a:close/>
                </a:path>
              </a:pathLst>
            </a:custGeom>
            <a:solidFill>
              <a:srgbClr val="BB0101">
                <a:alpha val="33725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4459298" y="0"/>
            <a:ext cx="3828702" cy="1844269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7087130" y="1494201"/>
            <a:ext cx="750343" cy="9541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30"/>
              </a:lnSpc>
            </a:pPr>
            <a:r>
              <a:rPr lang="en-US" sz="4945" spc="187">
                <a:solidFill>
                  <a:srgbClr val="9D0101">
                    <a:alpha val="2666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为天下储人才 为国家图富强</a:t>
            </a:r>
            <a:endParaRPr lang="en-US" sz="4945" spc="187">
              <a:solidFill>
                <a:srgbClr val="9D0101">
                  <a:alpha val="2666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27477" y="958314"/>
            <a:ext cx="1750785" cy="371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75"/>
              </a:lnSpc>
            </a:pPr>
            <a:r>
              <a:rPr lang="en-US" sz="11490" spc="436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sz="11490" spc="436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Box 22"/>
          <p:cNvSpPr txBox="1"/>
          <p:nvPr>
            <p:custDataLst>
              <p:tags r:id="rId8"/>
            </p:custDataLst>
          </p:nvPr>
        </p:nvSpPr>
        <p:spPr>
          <a:xfrm>
            <a:off x="6157433" y="1638000"/>
            <a:ext cx="1536257" cy="124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90"/>
              </a:lnSpc>
            </a:pPr>
            <a:r>
              <a:rPr lang="en-US" sz="6635" b="1" spc="-232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r>
              <a:rPr lang="en-US" sz="6635" spc="-232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sz="6635" spc="-232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TextBox 23"/>
          <p:cNvSpPr txBox="1"/>
          <p:nvPr>
            <p:custDataLst>
              <p:tags r:id="rId9"/>
            </p:custDataLst>
          </p:nvPr>
        </p:nvSpPr>
        <p:spPr>
          <a:xfrm>
            <a:off x="6157433" y="5516929"/>
            <a:ext cx="1536257" cy="124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90"/>
              </a:lnSpc>
            </a:pPr>
            <a:r>
              <a:rPr lang="en-US" sz="6635" b="1" spc="-232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  <a:r>
              <a:rPr lang="en-US" sz="6635" spc="-232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sz="6635" spc="-232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TextBox 24"/>
          <p:cNvSpPr txBox="1"/>
          <p:nvPr>
            <p:custDataLst>
              <p:tags r:id="rId10"/>
            </p:custDataLst>
          </p:nvPr>
        </p:nvSpPr>
        <p:spPr>
          <a:xfrm>
            <a:off x="6157433" y="3590548"/>
            <a:ext cx="1536257" cy="124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90"/>
              </a:lnSpc>
            </a:pPr>
            <a:r>
              <a:rPr lang="en-US" sz="6635" b="1" spc="-232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  <a:r>
              <a:rPr lang="en-US" sz="6635" spc="-232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sz="6635" spc="-232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TextBox 26"/>
          <p:cNvSpPr txBox="1"/>
          <p:nvPr>
            <p:custDataLst>
              <p:tags r:id="rId11"/>
            </p:custDataLst>
          </p:nvPr>
        </p:nvSpPr>
        <p:spPr>
          <a:xfrm>
            <a:off x="7627620" y="1923415"/>
            <a:ext cx="4262755" cy="649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70"/>
              </a:lnSpc>
            </a:pPr>
            <a:r>
              <a:rPr lang="zh-CN" altLang="en-US" sz="3620" spc="-3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项目目标与核心指标</a:t>
            </a:r>
            <a:endParaRPr lang="zh-CN" altLang="en-US" sz="3620" spc="-3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TextBox 27"/>
          <p:cNvSpPr txBox="1"/>
          <p:nvPr>
            <p:custDataLst>
              <p:tags r:id="rId12"/>
            </p:custDataLst>
          </p:nvPr>
        </p:nvSpPr>
        <p:spPr>
          <a:xfrm>
            <a:off x="7627620" y="5802630"/>
            <a:ext cx="4247515" cy="649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70"/>
              </a:lnSpc>
            </a:pPr>
            <a:r>
              <a:rPr lang="zh-CN" altLang="en-US" sz="3620" spc="-3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项目整体时间规划</a:t>
            </a:r>
            <a:endParaRPr lang="zh-CN" altLang="en-US" sz="3620" spc="-3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TextBox 28"/>
          <p:cNvSpPr txBox="1"/>
          <p:nvPr>
            <p:custDataLst>
              <p:tags r:id="rId13"/>
            </p:custDataLst>
          </p:nvPr>
        </p:nvSpPr>
        <p:spPr>
          <a:xfrm>
            <a:off x="7627620" y="3876040"/>
            <a:ext cx="4302125" cy="649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70"/>
              </a:lnSpc>
            </a:pPr>
            <a:r>
              <a:rPr lang="zh-CN" altLang="en-US" sz="3620" spc="-3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小组成员分工与职责</a:t>
            </a:r>
            <a:endParaRPr lang="zh-CN" altLang="en-US" sz="3620" spc="-3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8" name="Group 8"/>
          <p:cNvGrpSpPr/>
          <p:nvPr>
            <p:custDataLst>
              <p:tags r:id="rId14"/>
            </p:custDataLst>
          </p:nvPr>
        </p:nvGrpSpPr>
        <p:grpSpPr>
          <a:xfrm>
            <a:off x="7658678" y="8012272"/>
            <a:ext cx="2560316" cy="201976"/>
            <a:chOff x="0" y="0"/>
            <a:chExt cx="571386" cy="45075"/>
          </a:xfrm>
        </p:grpSpPr>
        <p:sp>
          <p:nvSpPr>
            <p:cNvPr id="21" name="Freeform 9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571386" cy="45075"/>
            </a:xfrm>
            <a:custGeom>
              <a:avLst/>
              <a:gdLst/>
              <a:ahLst/>
              <a:cxnLst/>
              <a:rect l="l" t="t" r="r" b="b"/>
              <a:pathLst>
                <a:path w="571386" h="45075">
                  <a:moveTo>
                    <a:pt x="0" y="0"/>
                  </a:moveTo>
                  <a:lnTo>
                    <a:pt x="571386" y="0"/>
                  </a:lnTo>
                  <a:lnTo>
                    <a:pt x="571386" y="45075"/>
                  </a:lnTo>
                  <a:lnTo>
                    <a:pt x="0" y="45075"/>
                  </a:lnTo>
                  <a:close/>
                </a:path>
              </a:pathLst>
            </a:custGeom>
            <a:solidFill>
              <a:srgbClr val="BB0101">
                <a:alpha val="33725"/>
              </a:srgbClr>
            </a:solidFill>
          </p:spPr>
        </p:sp>
        <p:sp>
          <p:nvSpPr>
            <p:cNvPr id="34" name="TextBox 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5" name="TextBox 23"/>
          <p:cNvSpPr txBox="1"/>
          <p:nvPr>
            <p:custDataLst>
              <p:tags r:id="rId16"/>
            </p:custDataLst>
          </p:nvPr>
        </p:nvSpPr>
        <p:spPr>
          <a:xfrm>
            <a:off x="6157433" y="7386369"/>
            <a:ext cx="1536257" cy="124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90"/>
              </a:lnSpc>
            </a:pPr>
            <a:r>
              <a:rPr lang="en-US" sz="6635" b="1" spc="-232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</a:t>
            </a:r>
            <a:r>
              <a:rPr lang="en-US" sz="6635" spc="-232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sz="6635" spc="-232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TextBox 27"/>
          <p:cNvSpPr txBox="1"/>
          <p:nvPr>
            <p:custDataLst>
              <p:tags r:id="rId17"/>
            </p:custDataLst>
          </p:nvPr>
        </p:nvSpPr>
        <p:spPr>
          <a:xfrm>
            <a:off x="7627620" y="7631430"/>
            <a:ext cx="3928110" cy="649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70"/>
              </a:lnSpc>
            </a:pPr>
            <a:r>
              <a:rPr lang="zh-CN" altLang="en-US" sz="3620" spc="-3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系统初步方案设计</a:t>
            </a:r>
            <a:endParaRPr lang="zh-CN" altLang="en-US" sz="3620" spc="-3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95" y="644308"/>
            <a:ext cx="19922912" cy="1157092"/>
            <a:chOff x="0" y="0"/>
            <a:chExt cx="4956389" cy="3047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56389" cy="304748"/>
            </a:xfrm>
            <a:custGeom>
              <a:avLst/>
              <a:gdLst/>
              <a:ahLst/>
              <a:cxnLst/>
              <a:rect l="l" t="t" r="r" b="b"/>
              <a:pathLst>
                <a:path w="4956389" h="304748">
                  <a:moveTo>
                    <a:pt x="0" y="0"/>
                  </a:moveTo>
                  <a:lnTo>
                    <a:pt x="4956389" y="0"/>
                  </a:lnTo>
                  <a:lnTo>
                    <a:pt x="4956389" y="304748"/>
                  </a:lnTo>
                  <a:lnTo>
                    <a:pt x="0" y="304748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547720">
            <a:off x="860073" y="77851"/>
            <a:ext cx="1132675" cy="1894778"/>
            <a:chOff x="0" y="0"/>
            <a:chExt cx="281785" cy="4990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785" cy="499036"/>
            </a:xfrm>
            <a:custGeom>
              <a:avLst/>
              <a:gdLst/>
              <a:ahLst/>
              <a:cxnLst/>
              <a:rect l="l" t="t" r="r" b="b"/>
              <a:pathLst>
                <a:path w="281785" h="499036">
                  <a:moveTo>
                    <a:pt x="0" y="0"/>
                  </a:moveTo>
                  <a:lnTo>
                    <a:pt x="281785" y="0"/>
                  </a:lnTo>
                  <a:lnTo>
                    <a:pt x="281785" y="499036"/>
                  </a:lnTo>
                  <a:lnTo>
                    <a:pt x="0" y="4990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526158" y="103114"/>
            <a:ext cx="3763978" cy="171261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1007558" y="701240"/>
            <a:ext cx="821242" cy="91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05"/>
              </a:lnSpc>
            </a:pPr>
            <a:r>
              <a:rPr lang="en-US" sz="4865" spc="-17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endParaRPr lang="en-US" sz="4865" spc="-17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317115" y="899160"/>
            <a:ext cx="5928995" cy="629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15"/>
              </a:lnSpc>
            </a:pPr>
            <a:r>
              <a:rPr lang="zh-CN" altLang="en-US" sz="3510" spc="217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项目目标与核心指标</a:t>
            </a:r>
            <a:endParaRPr lang="zh-CN" altLang="en-US" sz="3510" spc="217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6732454" y="938125"/>
            <a:ext cx="1115511" cy="547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300"/>
              </a:lnSpc>
            </a:pPr>
            <a:r>
              <a:rPr lang="en-US" sz="3415" spc="-682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···</a:t>
            </a:r>
            <a:endParaRPr lang="en-US" sz="3415" spc="-682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5" name="Group 8"/>
          <p:cNvGrpSpPr/>
          <p:nvPr/>
        </p:nvGrpSpPr>
        <p:grpSpPr>
          <a:xfrm>
            <a:off x="11287125" y="3462020"/>
            <a:ext cx="2632075" cy="1372870"/>
            <a:chOff x="0" y="0"/>
            <a:chExt cx="813639" cy="361642"/>
          </a:xfrm>
        </p:grpSpPr>
        <p:sp>
          <p:nvSpPr>
            <p:cNvPr id="27" name="Freeform 9"/>
            <p:cNvSpPr/>
            <p:nvPr/>
          </p:nvSpPr>
          <p:spPr>
            <a:xfrm>
              <a:off x="0" y="0"/>
              <a:ext cx="813639" cy="361642"/>
            </a:xfrm>
            <a:custGeom>
              <a:avLst/>
              <a:gdLst/>
              <a:ahLst/>
              <a:cxnLst/>
              <a:rect l="l" t="t" r="r" b="b"/>
              <a:pathLst>
                <a:path w="813639" h="361642">
                  <a:moveTo>
                    <a:pt x="0" y="0"/>
                  </a:moveTo>
                  <a:lnTo>
                    <a:pt x="813639" y="0"/>
                  </a:lnTo>
                  <a:lnTo>
                    <a:pt x="813639" y="361642"/>
                  </a:lnTo>
                  <a:lnTo>
                    <a:pt x="0" y="361642"/>
                  </a:lnTo>
                  <a:close/>
                </a:path>
              </a:pathLst>
            </a:custGeom>
            <a:solidFill>
              <a:srgbClr val="BB0101"/>
            </a:solidFill>
          </p:spPr>
        </p:sp>
        <p:sp>
          <p:nvSpPr>
            <p:cNvPr id="28" name="TextBox 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grpSp>
        <p:nvGrpSpPr>
          <p:cNvPr id="30" name="Group 11"/>
          <p:cNvGrpSpPr/>
          <p:nvPr/>
        </p:nvGrpSpPr>
        <p:grpSpPr>
          <a:xfrm>
            <a:off x="4287520" y="3474720"/>
            <a:ext cx="2740025" cy="1372870"/>
            <a:chOff x="0" y="0"/>
            <a:chExt cx="813639" cy="361642"/>
          </a:xfrm>
        </p:grpSpPr>
        <p:sp>
          <p:nvSpPr>
            <p:cNvPr id="34" name="Freeform 12"/>
            <p:cNvSpPr/>
            <p:nvPr/>
          </p:nvSpPr>
          <p:spPr>
            <a:xfrm>
              <a:off x="0" y="0"/>
              <a:ext cx="813639" cy="361642"/>
            </a:xfrm>
            <a:custGeom>
              <a:avLst/>
              <a:gdLst/>
              <a:ahLst/>
              <a:cxnLst/>
              <a:rect l="l" t="t" r="r" b="b"/>
              <a:pathLst>
                <a:path w="813639" h="361642">
                  <a:moveTo>
                    <a:pt x="0" y="0"/>
                  </a:moveTo>
                  <a:lnTo>
                    <a:pt x="813639" y="0"/>
                  </a:lnTo>
                  <a:lnTo>
                    <a:pt x="813639" y="361642"/>
                  </a:lnTo>
                  <a:lnTo>
                    <a:pt x="0" y="361642"/>
                  </a:lnTo>
                  <a:close/>
                </a:path>
              </a:pathLst>
            </a:custGeom>
            <a:solidFill>
              <a:srgbClr val="BB0101"/>
            </a:solidFill>
          </p:spPr>
        </p:sp>
        <p:sp>
          <p:nvSpPr>
            <p:cNvPr id="36" name="TextBox 1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grpSp>
        <p:nvGrpSpPr>
          <p:cNvPr id="41" name="Group 14"/>
          <p:cNvGrpSpPr/>
          <p:nvPr/>
        </p:nvGrpSpPr>
        <p:grpSpPr>
          <a:xfrm rot="5400000">
            <a:off x="1437640" y="2788285"/>
            <a:ext cx="1372870" cy="2730500"/>
            <a:chOff x="0" y="0"/>
            <a:chExt cx="361642" cy="812800"/>
          </a:xfrm>
        </p:grpSpPr>
        <p:sp>
          <p:nvSpPr>
            <p:cNvPr id="42" name="Freeform 15"/>
            <p:cNvSpPr/>
            <p:nvPr/>
          </p:nvSpPr>
          <p:spPr>
            <a:xfrm>
              <a:off x="0" y="0"/>
              <a:ext cx="361642" cy="812800"/>
            </a:xfrm>
            <a:custGeom>
              <a:avLst/>
              <a:gdLst/>
              <a:ahLst/>
              <a:cxnLst/>
              <a:rect l="l" t="t" r="r" b="b"/>
              <a:pathLst>
                <a:path w="361642" h="812800">
                  <a:moveTo>
                    <a:pt x="361642" y="0"/>
                  </a:moveTo>
                  <a:lnTo>
                    <a:pt x="361642" y="698500"/>
                  </a:lnTo>
                  <a:lnTo>
                    <a:pt x="180821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361642" y="0"/>
                  </a:lnTo>
                  <a:close/>
                </a:path>
              </a:pathLst>
            </a:custGeom>
            <a:solidFill>
              <a:srgbClr val="BB0101"/>
            </a:solidFill>
          </p:spPr>
        </p:sp>
        <p:sp>
          <p:nvSpPr>
            <p:cNvPr id="44" name="TextBox 16"/>
            <p:cNvSpPr txBox="1"/>
            <p:nvPr/>
          </p:nvSpPr>
          <p:spPr>
            <a:xfrm>
              <a:off x="0" y="-28575"/>
              <a:ext cx="6350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grpSp>
        <p:nvGrpSpPr>
          <p:cNvPr id="45" name="Group 17"/>
          <p:cNvGrpSpPr/>
          <p:nvPr/>
        </p:nvGrpSpPr>
        <p:grpSpPr>
          <a:xfrm rot="-5400000">
            <a:off x="15385415" y="2743200"/>
            <a:ext cx="1372870" cy="2777490"/>
            <a:chOff x="0" y="0"/>
            <a:chExt cx="361642" cy="812800"/>
          </a:xfrm>
        </p:grpSpPr>
        <p:sp>
          <p:nvSpPr>
            <p:cNvPr id="46" name="Freeform 18"/>
            <p:cNvSpPr/>
            <p:nvPr/>
          </p:nvSpPr>
          <p:spPr>
            <a:xfrm>
              <a:off x="0" y="0"/>
              <a:ext cx="361642" cy="812800"/>
            </a:xfrm>
            <a:custGeom>
              <a:avLst/>
              <a:gdLst/>
              <a:ahLst/>
              <a:cxnLst/>
              <a:rect l="l" t="t" r="r" b="b"/>
              <a:pathLst>
                <a:path w="361642" h="812800">
                  <a:moveTo>
                    <a:pt x="361642" y="0"/>
                  </a:moveTo>
                  <a:lnTo>
                    <a:pt x="361642" y="698500"/>
                  </a:lnTo>
                  <a:lnTo>
                    <a:pt x="180821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361642" y="0"/>
                  </a:lnTo>
                  <a:close/>
                </a:path>
              </a:pathLst>
            </a:custGeom>
            <a:solidFill>
              <a:srgbClr val="BB0101"/>
            </a:solidFill>
          </p:spPr>
        </p:sp>
        <p:sp>
          <p:nvSpPr>
            <p:cNvPr id="47" name="TextBox 19"/>
            <p:cNvSpPr txBox="1"/>
            <p:nvPr/>
          </p:nvSpPr>
          <p:spPr>
            <a:xfrm>
              <a:off x="0" y="-28575"/>
              <a:ext cx="6350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sp>
        <p:nvSpPr>
          <p:cNvPr id="60" name="TextBox 27"/>
          <p:cNvSpPr txBox="1"/>
          <p:nvPr/>
        </p:nvSpPr>
        <p:spPr>
          <a:xfrm>
            <a:off x="1193165" y="3903345"/>
            <a:ext cx="2278380" cy="500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05"/>
              </a:lnSpc>
            </a:pPr>
            <a:r>
              <a:rPr lang="zh-CN" altLang="en-US" sz="3055" spc="-2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目标温度</a:t>
            </a:r>
            <a:endParaRPr lang="zh-CN" altLang="en-US" sz="3055" spc="-2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1" name="TextBox 28"/>
          <p:cNvSpPr txBox="1"/>
          <p:nvPr/>
        </p:nvSpPr>
        <p:spPr>
          <a:xfrm>
            <a:off x="11582400" y="3903345"/>
            <a:ext cx="2193290" cy="7956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275"/>
              </a:lnSpc>
            </a:pPr>
            <a:r>
              <a:rPr lang="zh-CN" altLang="en-US" sz="3055" spc="189">
                <a:solidFill>
                  <a:srgbClr val="FFFFFF"/>
                </a:solidFill>
                <a:latin typeface="新愚公装甲宋A" pitchFamily="2" charset="-122"/>
                <a:ea typeface="新愚公装甲宋A" pitchFamily="2" charset="-122"/>
              </a:rPr>
              <a:t>过冲</a:t>
            </a:r>
            <a:r>
              <a:rPr lang="en-US" altLang="zh-CN" sz="3055" spc="189">
                <a:solidFill>
                  <a:srgbClr val="FFFFFF"/>
                </a:solidFill>
                <a:latin typeface="新愚公装甲宋A" pitchFamily="2" charset="-122"/>
                <a:ea typeface="新愚公装甲宋A" pitchFamily="2" charset="-122"/>
              </a:rPr>
              <a:t>/</a:t>
            </a:r>
            <a:r>
              <a:rPr lang="zh-CN" altLang="en-US" sz="3055" spc="189">
                <a:solidFill>
                  <a:srgbClr val="FFFFFF"/>
                </a:solidFill>
                <a:latin typeface="新愚公装甲宋A" pitchFamily="2" charset="-122"/>
                <a:ea typeface="新愚公装甲宋A" pitchFamily="2" charset="-122"/>
              </a:rPr>
              <a:t>调</a:t>
            </a:r>
            <a:r>
              <a:rPr lang="zh-CN" altLang="en-US" sz="3055" spc="189">
                <a:solidFill>
                  <a:srgbClr val="FFFFFF"/>
                </a:solidFill>
                <a:latin typeface="新愚公装甲宋A" pitchFamily="2" charset="-122"/>
                <a:ea typeface="新愚公装甲宋A" pitchFamily="2" charset="-122"/>
              </a:rPr>
              <a:t>冲</a:t>
            </a:r>
            <a:endParaRPr lang="zh-CN" altLang="en-US" sz="3055" spc="189">
              <a:solidFill>
                <a:srgbClr val="FFFFFF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sp>
        <p:nvSpPr>
          <p:cNvPr id="62" name="TextBox 29"/>
          <p:cNvSpPr txBox="1"/>
          <p:nvPr/>
        </p:nvSpPr>
        <p:spPr>
          <a:xfrm>
            <a:off x="4953000" y="3855720"/>
            <a:ext cx="2724150" cy="548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75"/>
              </a:lnSpc>
            </a:pPr>
            <a:r>
              <a:rPr lang="zh-CN" altLang="en-US" sz="3055" spc="-2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控制精度</a:t>
            </a:r>
            <a:endParaRPr lang="zh-CN" altLang="en-US" sz="3055" spc="-2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3" name="TextBox 30"/>
          <p:cNvSpPr txBox="1"/>
          <p:nvPr/>
        </p:nvSpPr>
        <p:spPr>
          <a:xfrm>
            <a:off x="15272385" y="3903345"/>
            <a:ext cx="2317115" cy="548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75"/>
              </a:lnSpc>
            </a:pPr>
            <a:r>
              <a:rPr lang="zh-CN" altLang="en-US" sz="3055" spc="189">
                <a:solidFill>
                  <a:srgbClr val="FFFFFF"/>
                </a:solidFill>
                <a:latin typeface="新愚公装甲宋A" pitchFamily="2" charset="-122"/>
                <a:ea typeface="新愚公装甲宋A" pitchFamily="2" charset="-122"/>
              </a:rPr>
              <a:t>总功耗</a:t>
            </a:r>
            <a:endParaRPr lang="zh-CN" altLang="en-US" sz="3055" spc="189">
              <a:solidFill>
                <a:srgbClr val="FFFFFF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sp>
        <p:nvSpPr>
          <p:cNvPr id="64" name="TextBox 31"/>
          <p:cNvSpPr txBox="1"/>
          <p:nvPr/>
        </p:nvSpPr>
        <p:spPr>
          <a:xfrm>
            <a:off x="8841740" y="5372100"/>
            <a:ext cx="1310005" cy="548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75"/>
              </a:lnSpc>
            </a:pPr>
            <a:r>
              <a:rPr lang="en-US" altLang="zh-CN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&lt;5</a:t>
            </a:r>
            <a:r>
              <a:rPr lang="zh-CN" altLang="en-US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秒</a:t>
            </a:r>
            <a:endParaRPr lang="zh-CN" altLang="en-US" sz="3055" spc="189">
              <a:solidFill>
                <a:srgbClr val="9D010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sp>
        <p:nvSpPr>
          <p:cNvPr id="65" name="TextBox 32"/>
          <p:cNvSpPr txBox="1"/>
          <p:nvPr/>
        </p:nvSpPr>
        <p:spPr>
          <a:xfrm>
            <a:off x="4411980" y="5363210"/>
            <a:ext cx="2677795" cy="548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75"/>
              </a:lnSpc>
            </a:pPr>
            <a:r>
              <a:rPr lang="en-US" altLang="en-US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±</a:t>
            </a:r>
            <a:r>
              <a:rPr lang="en-US" altLang="zh-CN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0.05</a:t>
            </a:r>
            <a:r>
              <a:rPr lang="en-US" altLang="en-US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℃</a:t>
            </a:r>
            <a:r>
              <a:rPr lang="zh-CN" altLang="en-US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以内</a:t>
            </a:r>
            <a:endParaRPr lang="zh-CN" altLang="en-US" sz="3055" spc="189">
              <a:solidFill>
                <a:srgbClr val="9D010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sp>
        <p:nvSpPr>
          <p:cNvPr id="66" name="TextBox 33"/>
          <p:cNvSpPr txBox="1"/>
          <p:nvPr/>
        </p:nvSpPr>
        <p:spPr>
          <a:xfrm>
            <a:off x="12268200" y="5356225"/>
            <a:ext cx="1300480" cy="6565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275"/>
              </a:lnSpc>
            </a:pPr>
            <a:r>
              <a:rPr lang="en-US" altLang="zh-CN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≤1</a:t>
            </a:r>
            <a:r>
              <a:rPr lang="en-US" altLang="en-US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℃</a:t>
            </a:r>
            <a:endParaRPr lang="en-US" altLang="en-US" sz="3055" spc="189">
              <a:solidFill>
                <a:srgbClr val="9D0101"/>
              </a:solidFill>
              <a:latin typeface="新愚公装甲宋A" pitchFamily="2" charset="-122"/>
              <a:ea typeface="新愚公装甲宋A" pitchFamily="2" charset="-122"/>
            </a:endParaRPr>
          </a:p>
          <a:p>
            <a:pPr>
              <a:lnSpc>
                <a:spcPts val="4275"/>
              </a:lnSpc>
            </a:pPr>
            <a:endParaRPr lang="en-US" altLang="en-US" sz="3055" spc="189">
              <a:solidFill>
                <a:srgbClr val="9D010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sp>
        <p:nvSpPr>
          <p:cNvPr id="67" name="TextBox 34"/>
          <p:cNvSpPr txBox="1"/>
          <p:nvPr/>
        </p:nvSpPr>
        <p:spPr>
          <a:xfrm>
            <a:off x="1828800" y="5363210"/>
            <a:ext cx="1122045" cy="6496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275"/>
              </a:lnSpc>
            </a:pPr>
            <a:r>
              <a:rPr lang="en-US" altLang="zh-CN" sz="3055" spc="189" dirty="0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35</a:t>
            </a:r>
            <a:r>
              <a:rPr lang="en-US" altLang="zh-CN" sz="3055" spc="189" dirty="0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℃</a:t>
            </a:r>
            <a:endParaRPr lang="en-US" altLang="zh-CN" sz="3055" spc="189" dirty="0">
              <a:solidFill>
                <a:srgbClr val="9D010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sp>
        <p:nvSpPr>
          <p:cNvPr id="9" name="Freeform 12"/>
          <p:cNvSpPr/>
          <p:nvPr/>
        </p:nvSpPr>
        <p:spPr>
          <a:xfrm>
            <a:off x="7843520" y="3462020"/>
            <a:ext cx="2740025" cy="1372870"/>
          </a:xfrm>
          <a:custGeom>
            <a:avLst/>
            <a:gdLst/>
            <a:ahLst/>
            <a:cxnLst/>
            <a:rect l="l" t="t" r="r" b="b"/>
            <a:pathLst>
              <a:path w="813639" h="361642">
                <a:moveTo>
                  <a:pt x="0" y="0"/>
                </a:moveTo>
                <a:lnTo>
                  <a:pt x="813639" y="0"/>
                </a:lnTo>
                <a:lnTo>
                  <a:pt x="813639" y="361642"/>
                </a:lnTo>
                <a:lnTo>
                  <a:pt x="0" y="361642"/>
                </a:lnTo>
                <a:close/>
              </a:path>
            </a:pathLst>
          </a:custGeom>
          <a:solidFill>
            <a:srgbClr val="BB0101"/>
          </a:solidFill>
        </p:spPr>
      </p:sp>
      <p:sp>
        <p:nvSpPr>
          <p:cNvPr id="11" name="TextBox 29"/>
          <p:cNvSpPr txBox="1"/>
          <p:nvPr/>
        </p:nvSpPr>
        <p:spPr>
          <a:xfrm>
            <a:off x="8458200" y="3903345"/>
            <a:ext cx="2724150" cy="548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75"/>
              </a:lnSpc>
            </a:pPr>
            <a:r>
              <a:rPr lang="zh-CN" altLang="en-US" sz="3055" spc="-2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稳定</a:t>
            </a:r>
            <a:r>
              <a:rPr lang="zh-CN" altLang="en-US" sz="3055" spc="-2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时间</a:t>
            </a:r>
            <a:endParaRPr lang="zh-CN" altLang="en-US" sz="3055" spc="-2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TextBox 33"/>
          <p:cNvSpPr txBox="1"/>
          <p:nvPr/>
        </p:nvSpPr>
        <p:spPr>
          <a:xfrm>
            <a:off x="15163800" y="5379720"/>
            <a:ext cx="2179320" cy="6565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275"/>
              </a:lnSpc>
            </a:pPr>
            <a:r>
              <a:rPr lang="zh-CN" altLang="en-US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不大于</a:t>
            </a:r>
            <a:r>
              <a:rPr lang="en-US" altLang="zh-CN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10W</a:t>
            </a:r>
            <a:endParaRPr lang="en-US" altLang="zh-CN" sz="3055" spc="189">
              <a:solidFill>
                <a:srgbClr val="9D010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grpSp>
        <p:nvGrpSpPr>
          <p:cNvPr id="14" name="Group 17"/>
          <p:cNvGrpSpPr/>
          <p:nvPr/>
        </p:nvGrpSpPr>
        <p:grpSpPr>
          <a:xfrm rot="-5400000">
            <a:off x="10706100" y="6463665"/>
            <a:ext cx="1372870" cy="2777490"/>
            <a:chOff x="0" y="0"/>
            <a:chExt cx="361642" cy="812800"/>
          </a:xfrm>
        </p:grpSpPr>
        <p:sp>
          <p:nvSpPr>
            <p:cNvPr id="15" name="Freeform 18"/>
            <p:cNvSpPr/>
            <p:nvPr/>
          </p:nvSpPr>
          <p:spPr>
            <a:xfrm>
              <a:off x="0" y="0"/>
              <a:ext cx="361642" cy="812800"/>
            </a:xfrm>
            <a:custGeom>
              <a:avLst/>
              <a:gdLst/>
              <a:ahLst/>
              <a:cxnLst/>
              <a:rect l="l" t="t" r="r" b="b"/>
              <a:pathLst>
                <a:path w="361642" h="812800">
                  <a:moveTo>
                    <a:pt x="361642" y="0"/>
                  </a:moveTo>
                  <a:lnTo>
                    <a:pt x="361642" y="698500"/>
                  </a:lnTo>
                  <a:lnTo>
                    <a:pt x="180821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361642" y="0"/>
                  </a:lnTo>
                  <a:close/>
                </a:path>
              </a:pathLst>
            </a:custGeom>
            <a:solidFill>
              <a:srgbClr val="BB0101"/>
            </a:solidFill>
          </p:spPr>
        </p:sp>
        <p:sp>
          <p:nvSpPr>
            <p:cNvPr id="16" name="TextBox 19"/>
            <p:cNvSpPr txBox="1"/>
            <p:nvPr/>
          </p:nvSpPr>
          <p:spPr>
            <a:xfrm>
              <a:off x="0" y="-28575"/>
              <a:ext cx="6350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sp>
        <p:nvSpPr>
          <p:cNvPr id="17" name="TextBox 33"/>
          <p:cNvSpPr txBox="1"/>
          <p:nvPr/>
        </p:nvSpPr>
        <p:spPr>
          <a:xfrm>
            <a:off x="9982200" y="9014460"/>
            <a:ext cx="2756535" cy="6565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275"/>
              </a:lnSpc>
            </a:pPr>
            <a:r>
              <a:rPr lang="zh-CN" altLang="en-US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电路板、</a:t>
            </a:r>
            <a:r>
              <a:rPr lang="zh-CN" altLang="en-US" sz="3055" spc="189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程序</a:t>
            </a:r>
            <a:endParaRPr lang="zh-CN" altLang="en-US" sz="3055" spc="189">
              <a:solidFill>
                <a:srgbClr val="9D010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10744200" y="7578090"/>
            <a:ext cx="2317115" cy="548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75"/>
              </a:lnSpc>
            </a:pPr>
            <a:r>
              <a:rPr lang="zh-CN" altLang="en-US" sz="3055" spc="189">
                <a:solidFill>
                  <a:srgbClr val="FFFFFF"/>
                </a:solidFill>
                <a:latin typeface="新愚公装甲宋A" pitchFamily="2" charset="-122"/>
                <a:ea typeface="新愚公装甲宋A" pitchFamily="2" charset="-122"/>
              </a:rPr>
              <a:t>实物</a:t>
            </a:r>
            <a:endParaRPr lang="zh-CN" altLang="en-US" sz="3055" spc="189">
              <a:solidFill>
                <a:srgbClr val="FFFFFF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grpSp>
        <p:nvGrpSpPr>
          <p:cNvPr id="19" name="Group 14"/>
          <p:cNvGrpSpPr/>
          <p:nvPr/>
        </p:nvGrpSpPr>
        <p:grpSpPr>
          <a:xfrm rot="5400000">
            <a:off x="6435090" y="6487160"/>
            <a:ext cx="1372870" cy="2730500"/>
            <a:chOff x="0" y="0"/>
            <a:chExt cx="361642" cy="812800"/>
          </a:xfrm>
        </p:grpSpPr>
        <p:sp>
          <p:nvSpPr>
            <p:cNvPr id="20" name="Freeform 15"/>
            <p:cNvSpPr/>
            <p:nvPr/>
          </p:nvSpPr>
          <p:spPr>
            <a:xfrm>
              <a:off x="0" y="0"/>
              <a:ext cx="361642" cy="812800"/>
            </a:xfrm>
            <a:custGeom>
              <a:avLst/>
              <a:gdLst/>
              <a:ahLst/>
              <a:cxnLst/>
              <a:rect l="l" t="t" r="r" b="b"/>
              <a:pathLst>
                <a:path w="361642" h="812800">
                  <a:moveTo>
                    <a:pt x="361642" y="0"/>
                  </a:moveTo>
                  <a:lnTo>
                    <a:pt x="361642" y="698500"/>
                  </a:lnTo>
                  <a:lnTo>
                    <a:pt x="180821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361642" y="0"/>
                  </a:lnTo>
                  <a:close/>
                </a:path>
              </a:pathLst>
            </a:custGeom>
            <a:solidFill>
              <a:srgbClr val="BB0101"/>
            </a:solidFill>
          </p:spPr>
        </p:sp>
        <p:sp>
          <p:nvSpPr>
            <p:cNvPr id="21" name="TextBox 16"/>
            <p:cNvSpPr txBox="1"/>
            <p:nvPr/>
          </p:nvSpPr>
          <p:spPr>
            <a:xfrm>
              <a:off x="0" y="-28575"/>
              <a:ext cx="6350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sp>
        <p:nvSpPr>
          <p:cNvPr id="22" name="TextBox 27"/>
          <p:cNvSpPr txBox="1"/>
          <p:nvPr/>
        </p:nvSpPr>
        <p:spPr>
          <a:xfrm>
            <a:off x="6096000" y="7665720"/>
            <a:ext cx="2278380" cy="500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05"/>
              </a:lnSpc>
            </a:pPr>
            <a:r>
              <a:rPr lang="zh-CN" altLang="en-US" sz="3055" spc="-2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周期</a:t>
            </a:r>
            <a:endParaRPr lang="zh-CN" altLang="en-US" sz="3055" spc="-2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3" name="TextBox 34"/>
          <p:cNvSpPr txBox="1"/>
          <p:nvPr/>
        </p:nvSpPr>
        <p:spPr>
          <a:xfrm>
            <a:off x="6934200" y="9029700"/>
            <a:ext cx="1122045" cy="6496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275"/>
              </a:lnSpc>
            </a:pPr>
            <a:r>
              <a:rPr lang="en-US" altLang="zh-CN" sz="3055" spc="189" dirty="0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12</a:t>
            </a:r>
            <a:r>
              <a:rPr lang="zh-CN" altLang="en-US" sz="3055" spc="189" dirty="0">
                <a:solidFill>
                  <a:srgbClr val="9D0101"/>
                </a:solidFill>
                <a:latin typeface="新愚公装甲宋A" pitchFamily="2" charset="-122"/>
                <a:ea typeface="新愚公装甲宋A" pitchFamily="2" charset="-122"/>
              </a:rPr>
              <a:t>周</a:t>
            </a:r>
            <a:endParaRPr lang="zh-CN" altLang="en-US" sz="3055" spc="189" dirty="0">
              <a:solidFill>
                <a:srgbClr val="9D010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4093643" y="685681"/>
            <a:ext cx="23385037" cy="3194601"/>
            <a:chOff x="0" y="-28575"/>
            <a:chExt cx="4907073" cy="841375"/>
          </a:xfrm>
        </p:grpSpPr>
        <p:sp>
          <p:nvSpPr>
            <p:cNvPr id="5" name="Freeform 5"/>
            <p:cNvSpPr/>
            <p:nvPr/>
          </p:nvSpPr>
          <p:spPr>
            <a:xfrm>
              <a:off x="0" y="-23853"/>
              <a:ext cx="4907073" cy="304748"/>
            </a:xfrm>
            <a:custGeom>
              <a:avLst/>
              <a:gdLst/>
              <a:ahLst/>
              <a:cxnLst/>
              <a:rect l="l" t="t" r="r" b="b"/>
              <a:pathLst>
                <a:path w="4907073" h="304748">
                  <a:moveTo>
                    <a:pt x="0" y="0"/>
                  </a:moveTo>
                  <a:lnTo>
                    <a:pt x="4907073" y="0"/>
                  </a:lnTo>
                  <a:lnTo>
                    <a:pt x="4907073" y="304748"/>
                  </a:lnTo>
                  <a:lnTo>
                    <a:pt x="0" y="304748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547720">
            <a:off x="828596" y="92119"/>
            <a:ext cx="1342868" cy="2274822"/>
            <a:chOff x="0" y="0"/>
            <a:chExt cx="281785" cy="4990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1785" cy="499036"/>
            </a:xfrm>
            <a:custGeom>
              <a:avLst/>
              <a:gdLst/>
              <a:ahLst/>
              <a:cxnLst/>
              <a:rect l="l" t="t" r="r" b="b"/>
              <a:pathLst>
                <a:path w="281785" h="499036">
                  <a:moveTo>
                    <a:pt x="0" y="0"/>
                  </a:moveTo>
                  <a:lnTo>
                    <a:pt x="281785" y="0"/>
                  </a:lnTo>
                  <a:lnTo>
                    <a:pt x="281785" y="499036"/>
                  </a:lnTo>
                  <a:lnTo>
                    <a:pt x="0" y="4990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7558" y="878664"/>
            <a:ext cx="973642" cy="91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05"/>
              </a:lnSpc>
            </a:pPr>
            <a:r>
              <a:rPr lang="en-US" sz="4865" spc="-17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  <a:endParaRPr lang="en-US" sz="4865" spc="-17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323465" y="1040130"/>
            <a:ext cx="7000240" cy="629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15"/>
              </a:lnSpc>
            </a:pPr>
            <a:r>
              <a:rPr lang="zh-CN" altLang="en-US" sz="3510" spc="217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小组成员分工与职责</a:t>
            </a:r>
            <a:endParaRPr lang="zh-CN" altLang="en-US" sz="3510" spc="217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6732455" y="938125"/>
            <a:ext cx="1322520" cy="547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300"/>
              </a:lnSpc>
            </a:pPr>
            <a:r>
              <a:rPr lang="en-US" sz="3415" spc="-682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···</a:t>
            </a:r>
            <a:endParaRPr lang="en-US" sz="3415" spc="-682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0" name="Picture 1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454859" y="0"/>
            <a:ext cx="3828702" cy="1866900"/>
          </a:xfrm>
          <a:prstGeom prst="rect">
            <a:avLst/>
          </a:prstGeom>
        </p:spPr>
      </p:pic>
      <p:graphicFrame>
        <p:nvGraphicFramePr>
          <p:cNvPr id="22" name="表格 21"/>
          <p:cNvGraphicFramePr/>
          <p:nvPr>
            <p:custDataLst>
              <p:tags r:id="rId2"/>
            </p:custDataLst>
          </p:nvPr>
        </p:nvGraphicFramePr>
        <p:xfrm>
          <a:off x="1440000" y="2552700"/>
          <a:ext cx="15123795" cy="656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1265"/>
                <a:gridCol w="5041265"/>
                <a:gridCol w="5041265"/>
              </a:tblGrid>
              <a:tr h="10947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角色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成员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核心职责</a:t>
                      </a:r>
                      <a:endParaRPr lang="zh-CN" altLang="en-US" sz="2800"/>
                    </a:p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 marL="90170" marR="90170" marT="46990" marB="46990" anchor="ctr"/>
                </a:tc>
              </a:tr>
              <a:tr h="10947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组长（总负责）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  <a:cs typeface="+mn-ea"/>
                          <a:sym typeface="+mn-ea"/>
                        </a:rPr>
                        <a:t>刘艳琦</a:t>
                      </a:r>
                      <a:endParaRPr lang="zh-CN" altLang="en-US" sz="2800">
                        <a:latin typeface="+mn-ea"/>
                        <a:cs typeface="+mn-ea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总体协调、技术决策、仿真建模、进度把控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</a:tr>
              <a:tr h="10947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硬件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刘炎彤</a:t>
                      </a:r>
                      <a:r>
                        <a:rPr lang="en-US" altLang="zh-CN" sz="2800"/>
                        <a:t> </a:t>
                      </a:r>
                      <a:endParaRPr lang="en-US" altLang="zh-CN" sz="2800"/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硬件选型、面包板搭建、</a:t>
                      </a:r>
                      <a:r>
                        <a:rPr lang="en-US" altLang="zh-CN" sz="2800"/>
                        <a:t>PCB</a:t>
                      </a:r>
                      <a:r>
                        <a:rPr lang="zh-CN" altLang="en-US" sz="2800"/>
                        <a:t>设计焊接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</a:tr>
              <a:tr h="10947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dirty="0"/>
                        <a:t>嵌入式</a:t>
                      </a:r>
                      <a:endParaRPr lang="zh-CN" altLang="en-US" sz="2800" dirty="0"/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刘研硕</a:t>
                      </a:r>
                      <a:r>
                        <a:rPr lang="en-US" altLang="zh-CN" sz="2800">
                          <a:sym typeface="+mn-ea"/>
                        </a:rPr>
                        <a:t> 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/>
                        <a:t>STM32</a:t>
                      </a:r>
                      <a:r>
                        <a:rPr lang="zh-CN" altLang="en-US" sz="2800"/>
                        <a:t>驱动编写、</a:t>
                      </a:r>
                      <a:r>
                        <a:rPr lang="en-US" altLang="zh-CN" sz="2800"/>
                        <a:t>PID</a:t>
                      </a:r>
                      <a:r>
                        <a:rPr lang="zh-CN" altLang="en-US" sz="2800"/>
                        <a:t>代码移植、调试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</a:tr>
              <a:tr h="10947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测试分析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邢珂晨</a:t>
                      </a:r>
                      <a:r>
                        <a:rPr lang="en-US" altLang="zh-CN" sz="2800"/>
                        <a:t> </a:t>
                      </a:r>
                      <a:endParaRPr lang="en-US" altLang="zh-CN" sz="2800"/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数据记录、参数整定、性能分析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</a:tr>
              <a:tr h="10947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文档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/>
                        <a:t>徐子茜</a:t>
                      </a:r>
                      <a:endParaRPr lang="zh-CN" altLang="en-US" sz="2800"/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dirty="0"/>
                        <a:t>报告撰写、</a:t>
                      </a:r>
                      <a:r>
                        <a:rPr lang="en-US" altLang="zh-CN" sz="2800" dirty="0"/>
                        <a:t>PPT</a:t>
                      </a:r>
                      <a:r>
                        <a:rPr lang="zh-CN" altLang="en-US" sz="2800" dirty="0"/>
                        <a:t>制作、演示视频录制</a:t>
                      </a:r>
                      <a:endParaRPr lang="zh-CN" altLang="en-US" sz="2800" dirty="0"/>
                    </a:p>
                  </a:txBody>
                  <a:tcPr marL="90170" marR="90170" marT="46990" marB="4699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95" y="644308"/>
            <a:ext cx="19922912" cy="1157092"/>
            <a:chOff x="0" y="0"/>
            <a:chExt cx="4956389" cy="3047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56389" cy="304748"/>
            </a:xfrm>
            <a:custGeom>
              <a:avLst/>
              <a:gdLst/>
              <a:ahLst/>
              <a:cxnLst/>
              <a:rect l="l" t="t" r="r" b="b"/>
              <a:pathLst>
                <a:path w="4956389" h="304748">
                  <a:moveTo>
                    <a:pt x="0" y="0"/>
                  </a:moveTo>
                  <a:lnTo>
                    <a:pt x="4956389" y="0"/>
                  </a:lnTo>
                  <a:lnTo>
                    <a:pt x="4956389" y="304748"/>
                  </a:lnTo>
                  <a:lnTo>
                    <a:pt x="0" y="304748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547720">
            <a:off x="860073" y="77851"/>
            <a:ext cx="1132675" cy="1894778"/>
            <a:chOff x="0" y="0"/>
            <a:chExt cx="281785" cy="4990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785" cy="499036"/>
            </a:xfrm>
            <a:custGeom>
              <a:avLst/>
              <a:gdLst/>
              <a:ahLst/>
              <a:cxnLst/>
              <a:rect l="l" t="t" r="r" b="b"/>
              <a:pathLst>
                <a:path w="281785" h="499036">
                  <a:moveTo>
                    <a:pt x="0" y="0"/>
                  </a:moveTo>
                  <a:lnTo>
                    <a:pt x="281785" y="0"/>
                  </a:lnTo>
                  <a:lnTo>
                    <a:pt x="281785" y="499036"/>
                  </a:lnTo>
                  <a:lnTo>
                    <a:pt x="0" y="4990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524022" y="88790"/>
            <a:ext cx="3763978" cy="171261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07558" y="701240"/>
            <a:ext cx="821242" cy="91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05"/>
              </a:lnSpc>
            </a:pPr>
            <a:r>
              <a:rPr lang="en-US" sz="4865" spc="-17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  <a:endParaRPr lang="en-US" sz="4865" spc="-17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317115" y="899160"/>
            <a:ext cx="5396230" cy="629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15"/>
              </a:lnSpc>
            </a:pPr>
            <a:r>
              <a:rPr lang="zh-CN" altLang="en-US" sz="3510" spc="217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项目整体时间规划</a:t>
            </a:r>
            <a:endParaRPr lang="zh-CN" altLang="en-US" sz="3510" spc="217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6732454" y="938125"/>
            <a:ext cx="1115511" cy="547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300"/>
              </a:lnSpc>
            </a:pPr>
            <a:r>
              <a:rPr lang="en-US" sz="3415" spc="-682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···</a:t>
            </a:r>
            <a:endParaRPr lang="en-US" sz="3415" spc="-682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2"/>
            </p:custDataLst>
          </p:nvPr>
        </p:nvGraphicFramePr>
        <p:xfrm>
          <a:off x="1242060" y="1866900"/>
          <a:ext cx="16028670" cy="746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740"/>
                <a:gridCol w="2438400"/>
                <a:gridCol w="6248400"/>
                <a:gridCol w="5612130"/>
              </a:tblGrid>
              <a:tr h="76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dirty="0">
                          <a:latin typeface="+mj-ea"/>
                          <a:ea typeface="+mj-ea"/>
                        </a:rPr>
                        <a:t>汇报日期</a:t>
                      </a:r>
                      <a:endParaRPr lang="zh-CN" altLang="en-US" sz="28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dirty="0">
                          <a:latin typeface="+mj-ea"/>
                          <a:ea typeface="+mj-ea"/>
                        </a:rPr>
                        <a:t>阶段</a:t>
                      </a:r>
                      <a:endParaRPr lang="zh-CN" altLang="en-US" sz="28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dirty="0">
                          <a:latin typeface="+mj-ea"/>
                          <a:ea typeface="+mj-ea"/>
                        </a:rPr>
                        <a:t>核心目标</a:t>
                      </a:r>
                      <a:endParaRPr lang="zh-CN" altLang="en-US" sz="28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dirty="0">
                          <a:latin typeface="+mj-ea"/>
                          <a:ea typeface="+mj-ea"/>
                        </a:rPr>
                        <a:t>可展示成果</a:t>
                      </a:r>
                      <a:endParaRPr lang="zh-CN" altLang="en-US" sz="28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</a:tr>
              <a:tr h="1026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+mj-ea"/>
                          <a:ea typeface="+mj-ea"/>
                          <a:cs typeface="+mj-ea"/>
                        </a:rPr>
                        <a:t>3.13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solidFill>
                            <a:srgbClr val="0F1115"/>
                          </a:solidFill>
                          <a:latin typeface="+mj-ea"/>
                          <a:ea typeface="+mj-ea"/>
                          <a:cs typeface="+mj-ea"/>
                        </a:rPr>
                        <a:t>方案确定</a:t>
                      </a:r>
                      <a:endParaRPr lang="zh-CN" altLang="en-US" sz="2400" b="0" i="0" dirty="0">
                        <a:solidFill>
                          <a:srgbClr val="0F1115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分工明确，物料下单，规划方案，查找相关资料，负责各部分的同学学习有关部分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分工单，项目具体规划与方案，收集整理的资料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</a:tr>
              <a:tr h="1026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+mj-ea"/>
                          <a:ea typeface="+mj-ea"/>
                          <a:cs typeface="+mj-ea"/>
                        </a:rPr>
                        <a:t>3.20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仿真与基础搭建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  <a:cs typeface="+mj-ea"/>
                        </a:rPr>
                        <a:t>跑通仿真，尝试搭建面包板，跑通各个元器件的基础驱动，测试同学准备数据表格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  <a:cs typeface="+mj-ea"/>
                        </a:rPr>
                        <a:t>仿真建模，面包板雏形，各元器件驱动的具体演示，数据表格，文档同学整理本周任务进展情况的书面记录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</a:tr>
              <a:tr h="1026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+mj-ea"/>
                          <a:ea typeface="+mj-ea"/>
                          <a:cs typeface="+mj-ea"/>
                        </a:rPr>
                        <a:t>4.3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完善面包板，开始绘制</a:t>
                      </a:r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PCB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solidFill>
                            <a:srgbClr val="0F1115"/>
                          </a:solidFill>
                          <a:latin typeface="+mj-ea"/>
                          <a:ea typeface="+mj-ea"/>
                          <a:cs typeface="+mj-ea"/>
                        </a:rPr>
                        <a:t>完成硬件搭建，开始多次调参优化效果，同时开始绘制</a:t>
                      </a:r>
                      <a:r>
                        <a:rPr lang="en-US" altLang="zh-CN" sz="2400" b="0" i="0" dirty="0">
                          <a:solidFill>
                            <a:srgbClr val="0F1115"/>
                          </a:solidFill>
                          <a:latin typeface="+mj-ea"/>
                          <a:ea typeface="+mj-ea"/>
                          <a:cs typeface="+mj-ea"/>
                        </a:rPr>
                        <a:t>PCB</a:t>
                      </a:r>
                      <a:r>
                        <a:rPr lang="zh-CN" altLang="en-US" sz="2400" b="0" i="0" dirty="0">
                          <a:solidFill>
                            <a:srgbClr val="0F1115"/>
                          </a:solidFill>
                          <a:latin typeface="+mj-ea"/>
                          <a:ea typeface="+mj-ea"/>
                          <a:cs typeface="+mj-ea"/>
                        </a:rPr>
                        <a:t>板</a:t>
                      </a:r>
                      <a:endParaRPr lang="zh-CN" altLang="en-US" sz="2400" b="0" i="0" dirty="0">
                        <a:solidFill>
                          <a:srgbClr val="0F1115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2237" marR="0" marT="76517" marB="765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solidFill>
                            <a:srgbClr val="0F1115"/>
                          </a:solidFill>
                          <a:latin typeface="+mj-ea"/>
                          <a:ea typeface="+mj-ea"/>
                          <a:cs typeface="+mj-ea"/>
                        </a:rPr>
                        <a:t>可运行的面包板成品，</a:t>
                      </a:r>
                      <a:r>
                        <a:rPr lang="en-US" altLang="zh-CN" sz="2400" b="0" i="0" dirty="0">
                          <a:solidFill>
                            <a:srgbClr val="0F1115"/>
                          </a:solidFill>
                          <a:latin typeface="+mj-ea"/>
                          <a:ea typeface="+mj-ea"/>
                          <a:cs typeface="+mj-ea"/>
                        </a:rPr>
                        <a:t>PCB</a:t>
                      </a:r>
                      <a:r>
                        <a:rPr lang="zh-CN" altLang="en-US" sz="2400" b="0" i="0" dirty="0">
                          <a:solidFill>
                            <a:srgbClr val="0F1115"/>
                          </a:solidFill>
                          <a:latin typeface="+mj-ea"/>
                          <a:ea typeface="+mj-ea"/>
                          <a:cs typeface="+mj-ea"/>
                        </a:rPr>
                        <a:t>板雏形，仿真与面包板硬件的同步调参及数据记录，</a:t>
                      </a: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j-ea"/>
                        </a:rPr>
                        <a:t>本周任务进展情况的书面记录</a:t>
                      </a:r>
                      <a:endParaRPr lang="zh-CN" altLang="en-US" sz="2400" b="0" i="0" dirty="0">
                        <a:solidFill>
                          <a:srgbClr val="0F1115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2237" marR="0" marT="76517" marB="76517" anchor="ctr"/>
                </a:tc>
              </a:tr>
              <a:tr h="1026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+mj-ea"/>
                          <a:ea typeface="+mj-ea"/>
                          <a:cs typeface="+mj-ea"/>
                        </a:rPr>
                        <a:t>4.17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调节</a:t>
                      </a:r>
                      <a:r>
                        <a:rPr lang="en-US" altLang="zh-CN" sz="2400" dirty="0">
                          <a:latin typeface="+mj-ea"/>
                          <a:ea typeface="+mj-ea"/>
                        </a:rPr>
                        <a:t>PCB</a:t>
                      </a: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板，准备外壳制作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+mj-ea"/>
                          <a:ea typeface="+mj-ea"/>
                          <a:cs typeface="+mj-ea"/>
                        </a:rPr>
                        <a:t>PCB</a:t>
                      </a:r>
                      <a:r>
                        <a:rPr lang="zh-CN" altLang="en-US" sz="2400" dirty="0">
                          <a:latin typeface="+mj-ea"/>
                          <a:ea typeface="+mj-ea"/>
                          <a:cs typeface="+mj-ea"/>
                        </a:rPr>
                        <a:t>打样，初步闭环数据，尝试进行外壳的</a:t>
                      </a:r>
                      <a:r>
                        <a:rPr lang="en-US" altLang="zh-CN" sz="2400" dirty="0">
                          <a:latin typeface="+mj-ea"/>
                          <a:ea typeface="+mj-ea"/>
                          <a:cs typeface="+mj-ea"/>
                        </a:rPr>
                        <a:t>3D</a:t>
                      </a:r>
                      <a:r>
                        <a:rPr lang="zh-CN" altLang="en-US" sz="2400" dirty="0">
                          <a:latin typeface="+mj-ea"/>
                          <a:ea typeface="+mj-ea"/>
                          <a:cs typeface="+mj-ea"/>
                        </a:rPr>
                        <a:t>建模或使用亚克力板组装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+mj-ea"/>
                          <a:ea typeface="+mj-ea"/>
                          <a:cs typeface="+mj-ea"/>
                        </a:rPr>
                        <a:t>PCB</a:t>
                      </a:r>
                      <a:r>
                        <a:rPr lang="zh-CN" altLang="en-US" sz="2400" dirty="0">
                          <a:latin typeface="+mj-ea"/>
                          <a:ea typeface="+mj-ea"/>
                          <a:cs typeface="+mj-ea"/>
                        </a:rPr>
                        <a:t>样板，最新调参数据记录，设计成品尺寸及外壳，有能力则建模，难以实现则采购亚克力板切割组装，</a:t>
                      </a: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j-ea"/>
                        </a:rPr>
                        <a:t>进展记录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</a:tr>
              <a:tr h="1026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+mj-ea"/>
                          <a:ea typeface="+mj-ea"/>
                          <a:cs typeface="+mj-ea"/>
                        </a:rPr>
                        <a:t>5.8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硬件整合与性能优化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  <a:cs typeface="+mj-ea"/>
                        </a:rPr>
                        <a:t>组装成品，调参以达到目标指标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  <a:cs typeface="+mj-ea"/>
                        </a:rPr>
                        <a:t>若顺利则可展示基本成品，书面记录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</a:tr>
              <a:tr h="1026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+mj-ea"/>
                          <a:ea typeface="+mj-ea"/>
                          <a:cs typeface="+mj-ea"/>
                        </a:rPr>
                        <a:t>5.22</a:t>
                      </a:r>
                      <a:endParaRPr lang="zh-CN" altLang="en-US" sz="2400" dirty="0"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抗扰动测试，验收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引入干扰元素优化温控稳定性，调节顺利即验收，未能较好完善则考虑延后一周验收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最终成品，全部项目过程的数据整理及分析，最终书面报告</a:t>
                      </a:r>
                      <a:endParaRPr lang="zh-CN" altLang="en-US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96" y="644308"/>
            <a:ext cx="21771485" cy="1157092"/>
            <a:chOff x="0" y="0"/>
            <a:chExt cx="4956389" cy="3047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56389" cy="304748"/>
            </a:xfrm>
            <a:custGeom>
              <a:avLst/>
              <a:gdLst/>
              <a:ahLst/>
              <a:cxnLst/>
              <a:rect l="l" t="t" r="r" b="b"/>
              <a:pathLst>
                <a:path w="4956389" h="304748">
                  <a:moveTo>
                    <a:pt x="0" y="0"/>
                  </a:moveTo>
                  <a:lnTo>
                    <a:pt x="4956389" y="0"/>
                  </a:lnTo>
                  <a:lnTo>
                    <a:pt x="4956389" y="304748"/>
                  </a:lnTo>
                  <a:lnTo>
                    <a:pt x="0" y="304748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547720">
            <a:off x="859407" y="86188"/>
            <a:ext cx="1237771" cy="1894778"/>
            <a:chOff x="0" y="0"/>
            <a:chExt cx="281785" cy="4990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785" cy="499036"/>
            </a:xfrm>
            <a:custGeom>
              <a:avLst/>
              <a:gdLst/>
              <a:ahLst/>
              <a:cxnLst/>
              <a:rect l="l" t="t" r="r" b="b"/>
              <a:pathLst>
                <a:path w="281785" h="499036">
                  <a:moveTo>
                    <a:pt x="0" y="0"/>
                  </a:moveTo>
                  <a:lnTo>
                    <a:pt x="281785" y="0"/>
                  </a:lnTo>
                  <a:lnTo>
                    <a:pt x="281785" y="499036"/>
                  </a:lnTo>
                  <a:lnTo>
                    <a:pt x="0" y="4990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249400" y="114656"/>
            <a:ext cx="4113223" cy="171261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007558" y="701240"/>
            <a:ext cx="897442" cy="91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05"/>
              </a:lnSpc>
            </a:pPr>
            <a:r>
              <a:rPr lang="en-US" sz="4865" spc="-17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</a:t>
            </a:r>
            <a:endParaRPr lang="en-US" sz="4865" spc="-17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317115" y="899160"/>
            <a:ext cx="6460490" cy="629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15"/>
              </a:lnSpc>
            </a:pPr>
            <a:r>
              <a:rPr lang="zh-CN" altLang="en-US" sz="3510" spc="217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初步设计方案</a:t>
            </a:r>
            <a:r>
              <a:rPr lang="en-US" altLang="zh-CN" sz="3510" spc="217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3510" spc="217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系统总体架构</a:t>
            </a:r>
            <a:endParaRPr lang="zh-CN" altLang="en-US" sz="3510" spc="217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6732454" y="938125"/>
            <a:ext cx="1219015" cy="547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300"/>
              </a:lnSpc>
            </a:pPr>
            <a:r>
              <a:rPr lang="en-US" sz="3415" spc="-682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···</a:t>
            </a:r>
            <a:endParaRPr lang="en-US" sz="3415" spc="-682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7530"/>
            <a:ext cx="7549515" cy="8289925"/>
          </a:xfrm>
          <a:prstGeom prst="rect">
            <a:avLst/>
          </a:prstGeom>
        </p:spPr>
      </p:pic>
      <p:grpSp>
        <p:nvGrpSpPr>
          <p:cNvPr id="8" name="Group 8"/>
          <p:cNvGrpSpPr/>
          <p:nvPr>
            <p:custDataLst>
              <p:tags r:id="rId3"/>
            </p:custDataLst>
          </p:nvPr>
        </p:nvGrpSpPr>
        <p:grpSpPr>
          <a:xfrm>
            <a:off x="9326245" y="2781300"/>
            <a:ext cx="8362315" cy="907415"/>
            <a:chOff x="0" y="0"/>
            <a:chExt cx="2063872" cy="334132"/>
          </a:xfrm>
        </p:grpSpPr>
        <p:sp>
          <p:nvSpPr>
            <p:cNvPr id="9" name="Freeform 9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2063872" cy="334132"/>
            </a:xfrm>
            <a:custGeom>
              <a:avLst/>
              <a:gdLst/>
              <a:ahLst/>
              <a:cxnLst/>
              <a:rect l="l" t="t" r="r" b="b"/>
              <a:pathLst>
                <a:path w="2063872" h="334132">
                  <a:moveTo>
                    <a:pt x="0" y="0"/>
                  </a:moveTo>
                  <a:lnTo>
                    <a:pt x="2063872" y="0"/>
                  </a:lnTo>
                  <a:lnTo>
                    <a:pt x="2063872" y="334132"/>
                  </a:lnTo>
                  <a:lnTo>
                    <a:pt x="0" y="334132"/>
                  </a:lnTo>
                  <a:close/>
                </a:path>
              </a:pathLst>
            </a:custGeom>
            <a:solidFill>
              <a:srgbClr val="BB010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grpSp>
        <p:nvGrpSpPr>
          <p:cNvPr id="11" name="Group 11"/>
          <p:cNvGrpSpPr/>
          <p:nvPr>
            <p:custDataLst>
              <p:tags r:id="rId5"/>
            </p:custDataLst>
          </p:nvPr>
        </p:nvGrpSpPr>
        <p:grpSpPr>
          <a:xfrm>
            <a:off x="9356090" y="5535295"/>
            <a:ext cx="8362315" cy="907415"/>
            <a:chOff x="0" y="0"/>
            <a:chExt cx="2063872" cy="334132"/>
          </a:xfrm>
        </p:grpSpPr>
        <p:sp>
          <p:nvSpPr>
            <p:cNvPr id="12" name="Freeform 12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2063872" cy="334132"/>
            </a:xfrm>
            <a:custGeom>
              <a:avLst/>
              <a:gdLst/>
              <a:ahLst/>
              <a:cxnLst/>
              <a:rect l="l" t="t" r="r" b="b"/>
              <a:pathLst>
                <a:path w="2063872" h="334132">
                  <a:moveTo>
                    <a:pt x="0" y="0"/>
                  </a:moveTo>
                  <a:lnTo>
                    <a:pt x="2063872" y="0"/>
                  </a:lnTo>
                  <a:lnTo>
                    <a:pt x="2063872" y="334132"/>
                  </a:lnTo>
                  <a:lnTo>
                    <a:pt x="0" y="334132"/>
                  </a:lnTo>
                  <a:close/>
                </a:path>
              </a:pathLst>
            </a:custGeom>
            <a:solidFill>
              <a:srgbClr val="BB010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grpSp>
        <p:nvGrpSpPr>
          <p:cNvPr id="14" name="Group 14"/>
          <p:cNvGrpSpPr/>
          <p:nvPr>
            <p:custDataLst>
              <p:tags r:id="rId7"/>
            </p:custDataLst>
          </p:nvPr>
        </p:nvGrpSpPr>
        <p:grpSpPr>
          <a:xfrm>
            <a:off x="9356090" y="4163695"/>
            <a:ext cx="8362315" cy="907415"/>
            <a:chOff x="0" y="0"/>
            <a:chExt cx="2063872" cy="334132"/>
          </a:xfrm>
        </p:grpSpPr>
        <p:sp>
          <p:nvSpPr>
            <p:cNvPr id="15" name="Freeform 15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2063872" cy="334132"/>
            </a:xfrm>
            <a:custGeom>
              <a:avLst/>
              <a:gdLst/>
              <a:ahLst/>
              <a:cxnLst/>
              <a:rect l="l" t="t" r="r" b="b"/>
              <a:pathLst>
                <a:path w="2063872" h="334132">
                  <a:moveTo>
                    <a:pt x="0" y="0"/>
                  </a:moveTo>
                  <a:lnTo>
                    <a:pt x="2063872" y="0"/>
                  </a:lnTo>
                  <a:lnTo>
                    <a:pt x="2063872" y="334132"/>
                  </a:lnTo>
                  <a:lnTo>
                    <a:pt x="0" y="334132"/>
                  </a:lnTo>
                  <a:close/>
                </a:path>
              </a:pathLst>
            </a:custGeom>
            <a:solidFill>
              <a:srgbClr val="928E9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grpSp>
        <p:nvGrpSpPr>
          <p:cNvPr id="17" name="Group 17"/>
          <p:cNvGrpSpPr/>
          <p:nvPr>
            <p:custDataLst>
              <p:tags r:id="rId9"/>
            </p:custDataLst>
          </p:nvPr>
        </p:nvGrpSpPr>
        <p:grpSpPr>
          <a:xfrm>
            <a:off x="9372600" y="6983095"/>
            <a:ext cx="8362315" cy="907415"/>
            <a:chOff x="0" y="0"/>
            <a:chExt cx="2063872" cy="334132"/>
          </a:xfrm>
        </p:grpSpPr>
        <p:sp>
          <p:nvSpPr>
            <p:cNvPr id="18" name="Freeform 18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2063872" cy="334132"/>
            </a:xfrm>
            <a:custGeom>
              <a:avLst/>
              <a:gdLst/>
              <a:ahLst/>
              <a:cxnLst/>
              <a:rect l="l" t="t" r="r" b="b"/>
              <a:pathLst>
                <a:path w="2063872" h="334132">
                  <a:moveTo>
                    <a:pt x="0" y="0"/>
                  </a:moveTo>
                  <a:lnTo>
                    <a:pt x="2063872" y="0"/>
                  </a:lnTo>
                  <a:lnTo>
                    <a:pt x="2063872" y="334132"/>
                  </a:lnTo>
                  <a:lnTo>
                    <a:pt x="0" y="334132"/>
                  </a:lnTo>
                  <a:close/>
                </a:path>
              </a:pathLst>
            </a:custGeom>
            <a:solidFill>
              <a:srgbClr val="928E9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sp>
        <p:nvSpPr>
          <p:cNvPr id="36" name="TextBox 36"/>
          <p:cNvSpPr txBox="1"/>
          <p:nvPr>
            <p:custDataLst>
              <p:tags r:id="rId11"/>
            </p:custDataLst>
          </p:nvPr>
        </p:nvSpPr>
        <p:spPr>
          <a:xfrm>
            <a:off x="9490710" y="2868295"/>
            <a:ext cx="7814945" cy="6375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595"/>
              </a:lnSpc>
            </a:pPr>
            <a:r>
              <a:rPr lang="zh-CN" altLang="en-US" sz="2400" b="1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温度采集</a:t>
            </a:r>
            <a:endParaRPr lang="zh-CN" altLang="en-US" sz="2400" b="1" spc="-1">
              <a:solidFill>
                <a:schemeClr val="bg1"/>
              </a:solidFill>
              <a:latin typeface="新愚公装甲宋A" pitchFamily="2" charset="-122"/>
              <a:ea typeface="新愚公装甲宋A" pitchFamily="2" charset="-122"/>
            </a:endParaRPr>
          </a:p>
          <a:p>
            <a:pPr>
              <a:lnSpc>
                <a:spcPts val="2595"/>
              </a:lnSpc>
            </a:pPr>
            <a:r>
              <a:rPr lang="en-US" altLang="zh-CN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PT100</a:t>
            </a: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传感器采集环境温度，经</a:t>
            </a:r>
            <a:r>
              <a:rPr lang="en-US" altLang="zh-CN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MAX31865</a:t>
            </a: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模块进行高精度</a:t>
            </a:r>
            <a:r>
              <a:rPr lang="en-US" altLang="zh-CN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A/D</a:t>
            </a: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转换。</a:t>
            </a:r>
            <a:endParaRPr lang="zh-CN" altLang="en-US" sz="1855" spc="-1">
              <a:solidFill>
                <a:schemeClr val="bg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sp>
        <p:nvSpPr>
          <p:cNvPr id="37" name="TextBox 37"/>
          <p:cNvSpPr txBox="1"/>
          <p:nvPr>
            <p:custDataLst>
              <p:tags r:id="rId12"/>
            </p:custDataLst>
          </p:nvPr>
        </p:nvSpPr>
        <p:spPr>
          <a:xfrm>
            <a:off x="9519285" y="5732145"/>
            <a:ext cx="7816215" cy="50038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595"/>
              </a:lnSpc>
            </a:pPr>
            <a:r>
              <a:rPr lang="zh-CN" altLang="en-US" sz="2400" b="1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控制输出</a:t>
            </a:r>
            <a:endParaRPr lang="zh-CN" altLang="en-US" sz="2400" b="1" spc="-1">
              <a:solidFill>
                <a:schemeClr val="bg1"/>
              </a:solidFill>
              <a:latin typeface="新愚公装甲宋A" pitchFamily="2" charset="-122"/>
              <a:ea typeface="新愚公装甲宋A" pitchFamily="2" charset="-122"/>
            </a:endParaRPr>
          </a:p>
          <a:p>
            <a:pPr>
              <a:lnSpc>
                <a:spcPts val="2595"/>
              </a:lnSpc>
            </a:pP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根据</a:t>
            </a:r>
            <a:r>
              <a:rPr lang="en-US" altLang="zh-CN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PID</a:t>
            </a: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算法结果，输出相应的</a:t>
            </a:r>
            <a:r>
              <a:rPr lang="en-US" altLang="zh-CN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PWM</a:t>
            </a: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控制信号。</a:t>
            </a:r>
            <a:endParaRPr lang="en-US" sz="1855" spc="-1">
              <a:solidFill>
                <a:schemeClr val="bg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sp>
        <p:nvSpPr>
          <p:cNvPr id="38" name="TextBox 38"/>
          <p:cNvSpPr txBox="1"/>
          <p:nvPr>
            <p:custDataLst>
              <p:tags r:id="rId13"/>
            </p:custDataLst>
          </p:nvPr>
        </p:nvSpPr>
        <p:spPr>
          <a:xfrm>
            <a:off x="9549765" y="4301490"/>
            <a:ext cx="7753350" cy="50038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595"/>
              </a:lnSpc>
            </a:pPr>
            <a:r>
              <a:rPr lang="zh-CN" altLang="en-US" sz="2400" b="1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数据处理</a:t>
            </a:r>
            <a:endParaRPr lang="zh-CN" altLang="en-US" sz="2400" b="1" spc="-1">
              <a:solidFill>
                <a:schemeClr val="bg1"/>
              </a:solidFill>
              <a:latin typeface="新愚公装甲宋A" pitchFamily="2" charset="-122"/>
              <a:ea typeface="新愚公装甲宋A" pitchFamily="2" charset="-122"/>
            </a:endParaRPr>
          </a:p>
          <a:p>
            <a:pPr>
              <a:lnSpc>
                <a:spcPts val="2595"/>
              </a:lnSpc>
            </a:pPr>
            <a:r>
              <a:rPr lang="en-US" altLang="zh-CN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STM32</a:t>
            </a: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主控芯片读取转换数据，运行</a:t>
            </a:r>
            <a:r>
              <a:rPr lang="en-US" altLang="zh-CN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PID</a:t>
            </a: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控制算法计算控制量。</a:t>
            </a:r>
            <a:endParaRPr lang="zh-CN" altLang="en-US" sz="1855" spc="-1">
              <a:solidFill>
                <a:schemeClr val="bg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sp>
        <p:nvSpPr>
          <p:cNvPr id="39" name="TextBox 39"/>
          <p:cNvSpPr txBox="1"/>
          <p:nvPr>
            <p:custDataLst>
              <p:tags r:id="rId14"/>
            </p:custDataLst>
          </p:nvPr>
        </p:nvSpPr>
        <p:spPr>
          <a:xfrm>
            <a:off x="9488805" y="7103110"/>
            <a:ext cx="7862570" cy="65278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595"/>
              </a:lnSpc>
            </a:pPr>
            <a:r>
              <a:rPr lang="zh-CN" altLang="en-US" sz="2400" b="1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执行控制</a:t>
            </a:r>
            <a:endParaRPr lang="zh-CN" altLang="en-US" sz="2400" b="1" spc="-1">
              <a:solidFill>
                <a:schemeClr val="bg1"/>
              </a:solidFill>
              <a:latin typeface="新愚公装甲宋A" pitchFamily="2" charset="-122"/>
              <a:ea typeface="新愚公装甲宋A" pitchFamily="2" charset="-122"/>
            </a:endParaRPr>
          </a:p>
          <a:p>
            <a:pPr>
              <a:lnSpc>
                <a:spcPts val="2595"/>
              </a:lnSpc>
            </a:pPr>
            <a:r>
              <a:rPr lang="en-US" altLang="zh-CN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DRV8871 H</a:t>
            </a: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桥驱动模块接收信号，控制</a:t>
            </a:r>
            <a:r>
              <a:rPr lang="en-US" altLang="zh-CN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TEC</a:t>
            </a: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半导体制冷片进行加热或制冷。</a:t>
            </a:r>
            <a:endParaRPr lang="zh-CN" altLang="en-US" sz="1855" spc="-1">
              <a:solidFill>
                <a:schemeClr val="bg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  <p:grpSp>
        <p:nvGrpSpPr>
          <p:cNvPr id="22" name="Group 8"/>
          <p:cNvGrpSpPr/>
          <p:nvPr>
            <p:custDataLst>
              <p:tags r:id="rId15"/>
            </p:custDataLst>
          </p:nvPr>
        </p:nvGrpSpPr>
        <p:grpSpPr>
          <a:xfrm>
            <a:off x="9372600" y="8458835"/>
            <a:ext cx="8362315" cy="907415"/>
            <a:chOff x="0" y="0"/>
            <a:chExt cx="2063872" cy="334132"/>
          </a:xfrm>
        </p:grpSpPr>
        <p:sp>
          <p:nvSpPr>
            <p:cNvPr id="23" name="Freeform 9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2063872" cy="334132"/>
            </a:xfrm>
            <a:custGeom>
              <a:avLst/>
              <a:gdLst/>
              <a:ahLst/>
              <a:cxnLst/>
              <a:rect l="l" t="t" r="r" b="b"/>
              <a:pathLst>
                <a:path w="2063872" h="334132">
                  <a:moveTo>
                    <a:pt x="0" y="0"/>
                  </a:moveTo>
                  <a:lnTo>
                    <a:pt x="2063872" y="0"/>
                  </a:lnTo>
                  <a:lnTo>
                    <a:pt x="2063872" y="334132"/>
                  </a:lnTo>
                  <a:lnTo>
                    <a:pt x="0" y="334132"/>
                  </a:lnTo>
                  <a:close/>
                </a:path>
              </a:pathLst>
            </a:custGeom>
            <a:solidFill>
              <a:srgbClr val="BB0101"/>
            </a:solidFill>
          </p:spPr>
        </p:sp>
        <p:sp>
          <p:nvSpPr>
            <p:cNvPr id="24" name="TextBox 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新愚公装甲宋A" pitchFamily="2" charset="-122"/>
                <a:ea typeface="新愚公装甲宋A" pitchFamily="2" charset="-122"/>
              </a:endParaRPr>
            </a:p>
          </p:txBody>
        </p:sp>
      </p:grpSp>
      <p:sp>
        <p:nvSpPr>
          <p:cNvPr id="26" name="TextBox 36"/>
          <p:cNvSpPr txBox="1"/>
          <p:nvPr>
            <p:custDataLst>
              <p:tags r:id="rId17"/>
            </p:custDataLst>
          </p:nvPr>
        </p:nvSpPr>
        <p:spPr>
          <a:xfrm>
            <a:off x="9535795" y="8609330"/>
            <a:ext cx="7816215" cy="50038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595"/>
              </a:lnSpc>
            </a:pPr>
            <a:r>
              <a:rPr lang="zh-CN" altLang="en-US" sz="2400" b="1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状态反馈</a:t>
            </a:r>
            <a:endParaRPr lang="zh-CN" altLang="en-US" sz="2400" b="1" spc="-1">
              <a:solidFill>
                <a:schemeClr val="bg1"/>
              </a:solidFill>
              <a:latin typeface="新愚公装甲宋A" pitchFamily="2" charset="-122"/>
              <a:ea typeface="新愚公装甲宋A" pitchFamily="2" charset="-122"/>
            </a:endParaRPr>
          </a:p>
          <a:p>
            <a:pPr>
              <a:lnSpc>
                <a:spcPts val="2595"/>
              </a:lnSpc>
            </a:pPr>
            <a:r>
              <a:rPr lang="en-US" altLang="zh-CN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OLED</a:t>
            </a:r>
            <a:r>
              <a:rPr lang="zh-CN" altLang="en-US" sz="1855" spc="-1">
                <a:solidFill>
                  <a:schemeClr val="bg1"/>
                </a:solidFill>
                <a:latin typeface="新愚公装甲宋A" pitchFamily="2" charset="-122"/>
                <a:ea typeface="新愚公装甲宋A" pitchFamily="2" charset="-122"/>
              </a:rPr>
              <a:t>显示屏实时显示温度，支持串口数据上传至电脑记录分析。</a:t>
            </a:r>
            <a:endParaRPr lang="zh-CN" altLang="en-US" sz="1855" spc="-1">
              <a:solidFill>
                <a:schemeClr val="bg1"/>
              </a:solidFill>
              <a:latin typeface="新愚公装甲宋A" pitchFamily="2" charset="-122"/>
              <a:ea typeface="新愚公装甲宋A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96" y="644308"/>
            <a:ext cx="21771485" cy="1157092"/>
            <a:chOff x="0" y="0"/>
            <a:chExt cx="4956389" cy="3047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56389" cy="304748"/>
            </a:xfrm>
            <a:custGeom>
              <a:avLst/>
              <a:gdLst/>
              <a:ahLst/>
              <a:cxnLst/>
              <a:rect l="l" t="t" r="r" b="b"/>
              <a:pathLst>
                <a:path w="4956389" h="304748">
                  <a:moveTo>
                    <a:pt x="0" y="0"/>
                  </a:moveTo>
                  <a:lnTo>
                    <a:pt x="4956389" y="0"/>
                  </a:lnTo>
                  <a:lnTo>
                    <a:pt x="4956389" y="304748"/>
                  </a:lnTo>
                  <a:lnTo>
                    <a:pt x="0" y="304748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547720">
            <a:off x="859407" y="86188"/>
            <a:ext cx="1237771" cy="1894778"/>
            <a:chOff x="0" y="0"/>
            <a:chExt cx="281785" cy="4990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785" cy="499036"/>
            </a:xfrm>
            <a:custGeom>
              <a:avLst/>
              <a:gdLst/>
              <a:ahLst/>
              <a:cxnLst/>
              <a:rect l="l" t="t" r="r" b="b"/>
              <a:pathLst>
                <a:path w="281785" h="499036">
                  <a:moveTo>
                    <a:pt x="0" y="0"/>
                  </a:moveTo>
                  <a:lnTo>
                    <a:pt x="281785" y="0"/>
                  </a:lnTo>
                  <a:lnTo>
                    <a:pt x="281785" y="499036"/>
                  </a:lnTo>
                  <a:lnTo>
                    <a:pt x="0" y="4990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55" name="Picture 5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478000" y="106499"/>
            <a:ext cx="3961672" cy="1712610"/>
          </a:xfrm>
          <a:prstGeom prst="rect">
            <a:avLst/>
          </a:prstGeom>
        </p:spPr>
      </p:pic>
      <p:sp>
        <p:nvSpPr>
          <p:cNvPr id="56" name="TextBox 56"/>
          <p:cNvSpPr txBox="1"/>
          <p:nvPr/>
        </p:nvSpPr>
        <p:spPr>
          <a:xfrm>
            <a:off x="1007558" y="701240"/>
            <a:ext cx="897442" cy="91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05"/>
              </a:lnSpc>
            </a:pPr>
            <a:r>
              <a:rPr lang="en-US" sz="4865" spc="-17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</a:t>
            </a:r>
            <a:endParaRPr lang="en-US" sz="4865" spc="-17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2317115" y="899160"/>
            <a:ext cx="6440170" cy="629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15"/>
              </a:lnSpc>
            </a:pPr>
            <a:r>
              <a:rPr lang="zh-CN" altLang="en-US" sz="3510" spc="217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初步设计方案</a:t>
            </a:r>
            <a:r>
              <a:rPr lang="en-US" altLang="zh-CN" sz="3510" spc="217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3510" spc="217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核心硬件选型</a:t>
            </a:r>
            <a:endParaRPr lang="zh-CN" altLang="en-US" sz="3510" spc="217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6732454" y="938125"/>
            <a:ext cx="1219015" cy="547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300"/>
              </a:lnSpc>
            </a:pPr>
            <a:r>
              <a:rPr lang="en-US" sz="3415" spc="-682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···</a:t>
            </a:r>
            <a:endParaRPr lang="en-US" sz="3415" spc="-682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2"/>
            </p:custDataLst>
          </p:nvPr>
        </p:nvGraphicFramePr>
        <p:xfrm>
          <a:off x="2238375" y="2617470"/>
          <a:ext cx="14072235" cy="643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8059"/>
                <a:gridCol w="3518059"/>
                <a:gridCol w="3518058"/>
                <a:gridCol w="3518059"/>
              </a:tblGrid>
              <a:tr h="107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</a:rPr>
                        <a:t>模块</a:t>
                      </a:r>
                      <a:endParaRPr lang="zh-CN" altLang="en-US" sz="2800"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  <a:cs typeface="+mn-ea"/>
                        </a:rPr>
                        <a:t>型号</a:t>
                      </a:r>
                      <a:r>
                        <a:rPr lang="en-US" altLang="zh-CN" sz="2800">
                          <a:latin typeface="+mn-ea"/>
                          <a:cs typeface="+mn-ea"/>
                        </a:rPr>
                        <a:t>/</a:t>
                      </a:r>
                      <a:r>
                        <a:rPr lang="zh-CN" altLang="en-US" sz="2800">
                          <a:latin typeface="+mn-ea"/>
                          <a:cs typeface="+mn-ea"/>
                        </a:rPr>
                        <a:t>规格</a:t>
                      </a:r>
                      <a:endParaRPr lang="zh-CN" altLang="en-US" sz="2800">
                        <a:latin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</a:rPr>
                        <a:t>关键参数</a:t>
                      </a:r>
                      <a:endParaRPr lang="zh-CN" altLang="en-US" sz="2800"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</a:rPr>
                        <a:t>作用</a:t>
                      </a:r>
                      <a:endParaRPr lang="zh-CN" altLang="en-US" sz="2800">
                        <a:latin typeface="+mn-ea"/>
                      </a:endParaRPr>
                    </a:p>
                  </a:txBody>
                  <a:tcPr anchor="ctr"/>
                </a:tc>
              </a:tr>
              <a:tr h="107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</a:rPr>
                        <a:t>主控</a:t>
                      </a:r>
                      <a:endParaRPr lang="zh-CN" altLang="en-US" sz="2800"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latin typeface="+mn-ea"/>
                        </a:rPr>
                        <a:t>STM32F103C8T6</a:t>
                      </a:r>
                      <a:endParaRPr lang="en-US" altLang="zh-CN" sz="2800"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latin typeface="+mn-ea"/>
                        </a:rPr>
                        <a:t>72MHz</a:t>
                      </a:r>
                      <a:endParaRPr lang="en-US" altLang="zh-CN" sz="2800"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  <a:cs typeface="+mn-ea"/>
                        </a:rPr>
                        <a:t>运行</a:t>
                      </a:r>
                      <a:r>
                        <a:rPr lang="en-US" altLang="zh-CN" sz="2800">
                          <a:latin typeface="+mn-ea"/>
                          <a:cs typeface="+mn-ea"/>
                        </a:rPr>
                        <a:t>PID</a:t>
                      </a:r>
                      <a:r>
                        <a:rPr lang="zh-CN" altLang="en-US" sz="2800">
                          <a:latin typeface="+mn-ea"/>
                          <a:cs typeface="+mn-ea"/>
                        </a:rPr>
                        <a:t>算法</a:t>
                      </a:r>
                      <a:endParaRPr lang="zh-CN" altLang="en-US" sz="2800">
                        <a:latin typeface="+mn-ea"/>
                        <a:cs typeface="+mn-ea"/>
                      </a:endParaRPr>
                    </a:p>
                  </a:txBody>
                  <a:tcPr anchor="ctr"/>
                </a:tc>
              </a:tr>
              <a:tr h="107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</a:rPr>
                        <a:t>传感器</a:t>
                      </a:r>
                      <a:endParaRPr lang="zh-CN" altLang="en-US" sz="2800"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latin typeface="+mn-ea"/>
                          <a:cs typeface="+mn-ea"/>
                        </a:rPr>
                        <a:t>PT100 AA</a:t>
                      </a:r>
                      <a:r>
                        <a:rPr lang="zh-CN" altLang="en-US" sz="2800">
                          <a:latin typeface="+mn-ea"/>
                          <a:cs typeface="+mn-ea"/>
                        </a:rPr>
                        <a:t>级</a:t>
                      </a:r>
                      <a:r>
                        <a:rPr lang="en-US" altLang="zh-CN" sz="2800">
                          <a:latin typeface="+mn-ea"/>
                          <a:cs typeface="+mn-ea"/>
                        </a:rPr>
                        <a:t> + MAX31865</a:t>
                      </a:r>
                      <a:endParaRPr lang="en-US" altLang="zh-CN" sz="2800">
                        <a:latin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latin typeface="+mn-ea"/>
                          <a:cs typeface="+mn-ea"/>
                        </a:rPr>
                        <a:t>15</a:t>
                      </a:r>
                      <a:r>
                        <a:rPr lang="zh-CN" altLang="en-US" sz="2800">
                          <a:latin typeface="+mn-ea"/>
                          <a:cs typeface="+mn-ea"/>
                        </a:rPr>
                        <a:t>位分辨率，</a:t>
                      </a:r>
                      <a:r>
                        <a:rPr lang="en-US" altLang="zh-CN" sz="2800">
                          <a:latin typeface="+mn-ea"/>
                          <a:cs typeface="+mn-ea"/>
                        </a:rPr>
                        <a:t>0.01</a:t>
                      </a:r>
                      <a:r>
                        <a:rPr lang="en-US" altLang="en-US" sz="2800">
                          <a:latin typeface="+mn-ea"/>
                          <a:cs typeface="+mn-ea"/>
                        </a:rPr>
                        <a:t>℃</a:t>
                      </a:r>
                      <a:r>
                        <a:rPr lang="zh-CN" altLang="en-US" sz="2800">
                          <a:latin typeface="+mn-ea"/>
                          <a:cs typeface="+mn-ea"/>
                        </a:rPr>
                        <a:t>精度</a:t>
                      </a:r>
                      <a:endParaRPr lang="zh-CN" altLang="en-US" sz="2800">
                        <a:latin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</a:rPr>
                        <a:t>高精度测温</a:t>
                      </a:r>
                      <a:endParaRPr lang="zh-CN" altLang="en-US" sz="2800">
                        <a:latin typeface="+mn-ea"/>
                      </a:endParaRPr>
                    </a:p>
                  </a:txBody>
                  <a:tcPr anchor="ctr"/>
                </a:tc>
              </a:tr>
              <a:tr h="107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</a:rPr>
                        <a:t>执行器</a:t>
                      </a:r>
                      <a:endParaRPr lang="zh-CN" altLang="en-US" sz="2800"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latin typeface="+mn-ea"/>
                        </a:rPr>
                        <a:t>TEC1-12706</a:t>
                      </a:r>
                      <a:endParaRPr lang="en-US" altLang="zh-CN" sz="2800"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+mn-ea"/>
                        </a:rPr>
                        <a:t>12V/6A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+mn-ea"/>
                      </a:endParaRPr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  <a:cs typeface="+mn-ea"/>
                        </a:rPr>
                        <a:t>加热</a:t>
                      </a:r>
                      <a:r>
                        <a:rPr lang="en-US" altLang="zh-CN" sz="2800">
                          <a:latin typeface="+mn-ea"/>
                          <a:cs typeface="+mn-ea"/>
                        </a:rPr>
                        <a:t>/</a:t>
                      </a:r>
                      <a:r>
                        <a:rPr lang="zh-CN" altLang="en-US" sz="2800">
                          <a:latin typeface="+mn-ea"/>
                          <a:cs typeface="+mn-ea"/>
                        </a:rPr>
                        <a:t>制冷</a:t>
                      </a:r>
                      <a:endParaRPr lang="zh-CN" altLang="en-US" sz="2800">
                        <a:latin typeface="+mn-ea"/>
                        <a:cs typeface="+mn-ea"/>
                      </a:endParaRPr>
                    </a:p>
                  </a:txBody>
                  <a:tcPr anchor="ctr"/>
                </a:tc>
              </a:tr>
              <a:tr h="107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latin typeface="+mn-ea"/>
                          <a:cs typeface="+mn-ea"/>
                        </a:rPr>
                        <a:t>H</a:t>
                      </a:r>
                      <a:r>
                        <a:rPr lang="zh-CN" altLang="en-US" sz="2800">
                          <a:latin typeface="+mn-ea"/>
                          <a:cs typeface="+mn-ea"/>
                        </a:rPr>
                        <a:t>桥</a:t>
                      </a:r>
                      <a:endParaRPr lang="zh-CN" altLang="en-US" sz="2800">
                        <a:latin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latin typeface="+mn-ea"/>
                          <a:cs typeface="+mn-ea"/>
                        </a:rPr>
                        <a:t>DRV8871</a:t>
                      </a:r>
                      <a:r>
                        <a:rPr lang="zh-CN" altLang="en-US" sz="2800">
                          <a:latin typeface="+mn-ea"/>
                          <a:cs typeface="+mn-ea"/>
                        </a:rPr>
                        <a:t>模块</a:t>
                      </a:r>
                      <a:endParaRPr lang="zh-CN" altLang="en-US" sz="2800">
                        <a:latin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latin typeface="+mn-ea"/>
                          <a:cs typeface="+mn-ea"/>
                        </a:rPr>
                        <a:t>PWM</a:t>
                      </a:r>
                      <a:r>
                        <a:rPr lang="zh-CN" altLang="en-US" sz="2800">
                          <a:latin typeface="+mn-ea"/>
                          <a:cs typeface="+mn-ea"/>
                        </a:rPr>
                        <a:t>控制</a:t>
                      </a:r>
                      <a:endParaRPr lang="zh-CN" altLang="en-US" sz="2800">
                        <a:latin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  <a:cs typeface="+mn-ea"/>
                        </a:rPr>
                        <a:t>驱动</a:t>
                      </a:r>
                      <a:r>
                        <a:rPr lang="en-US" altLang="zh-CN" sz="2800">
                          <a:latin typeface="+mn-ea"/>
                          <a:cs typeface="+mn-ea"/>
                        </a:rPr>
                        <a:t>TEC</a:t>
                      </a:r>
                      <a:endParaRPr lang="en-US" altLang="zh-CN" sz="2800">
                        <a:latin typeface="+mn-ea"/>
                        <a:cs typeface="+mn-ea"/>
                      </a:endParaRPr>
                    </a:p>
                  </a:txBody>
                  <a:tcPr anchor="ctr"/>
                </a:tc>
              </a:tr>
              <a:tr h="107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</a:rPr>
                        <a:t>显示</a:t>
                      </a:r>
                      <a:endParaRPr lang="zh-CN" altLang="en-US" sz="2800"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latin typeface="+mn-ea"/>
                          <a:cs typeface="+mn-ea"/>
                        </a:rPr>
                        <a:t>0.96</a:t>
                      </a:r>
                      <a:r>
                        <a:rPr lang="zh-CN" altLang="en-US" sz="2800">
                          <a:latin typeface="+mn-ea"/>
                          <a:cs typeface="+mn-ea"/>
                        </a:rPr>
                        <a:t>寸</a:t>
                      </a:r>
                      <a:r>
                        <a:rPr lang="en-US" altLang="zh-CN" sz="2800">
                          <a:latin typeface="+mn-ea"/>
                          <a:cs typeface="+mn-ea"/>
                        </a:rPr>
                        <a:t>OLED</a:t>
                      </a:r>
                      <a:endParaRPr lang="en-US" altLang="zh-CN" sz="2800">
                        <a:latin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+mn-ea"/>
                          <a:cs typeface="+mn-ea"/>
                        </a:rPr>
                        <a:t>I2C</a:t>
                      </a:r>
                      <a:r>
                        <a:rPr lang="zh-CN" altLang="en-US" sz="2800" b="0" i="0">
                          <a:solidFill>
                            <a:srgbClr val="0F1115"/>
                          </a:solidFill>
                          <a:latin typeface="+mn-ea"/>
                          <a:cs typeface="+mn-ea"/>
                        </a:rPr>
                        <a:t>接口</a:t>
                      </a:r>
                      <a:endParaRPr lang="zh-CN" altLang="en-US" sz="2800" b="0" i="0">
                        <a:solidFill>
                          <a:srgbClr val="0F1115"/>
                        </a:solidFill>
                        <a:latin typeface="+mn-ea"/>
                        <a:cs typeface="+mn-ea"/>
                      </a:endParaRPr>
                    </a:p>
                  </a:txBody>
                  <a:tcPr marL="122237" marR="122237" marT="76517" marB="765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+mn-ea"/>
                        </a:rPr>
                        <a:t>实时显示温度</a:t>
                      </a:r>
                      <a:endParaRPr lang="zh-CN" altLang="en-US" sz="2800">
                        <a:latin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263140" y="9410700"/>
            <a:ext cx="6096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+mj-ea"/>
                <a:ea typeface="+mj-ea"/>
                <a:cs typeface="+mj-ea"/>
              </a:rPr>
              <a:t>总预算约</a:t>
            </a:r>
            <a:r>
              <a:rPr lang="en-US" altLang="zh-CN" sz="2400">
                <a:latin typeface="+mj-ea"/>
                <a:ea typeface="+mj-ea"/>
                <a:cs typeface="+mj-ea"/>
              </a:rPr>
              <a:t>220</a:t>
            </a:r>
            <a:r>
              <a:rPr lang="zh-CN" altLang="en-US" sz="2400">
                <a:latin typeface="+mj-ea"/>
                <a:ea typeface="+mj-ea"/>
                <a:cs typeface="+mj-ea"/>
              </a:rPr>
              <a:t>元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96" y="644308"/>
            <a:ext cx="21771485" cy="1157092"/>
            <a:chOff x="0" y="0"/>
            <a:chExt cx="4956389" cy="3047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56389" cy="304748"/>
            </a:xfrm>
            <a:custGeom>
              <a:avLst/>
              <a:gdLst/>
              <a:ahLst/>
              <a:cxnLst/>
              <a:rect l="l" t="t" r="r" b="b"/>
              <a:pathLst>
                <a:path w="4956389" h="304748">
                  <a:moveTo>
                    <a:pt x="0" y="0"/>
                  </a:moveTo>
                  <a:lnTo>
                    <a:pt x="4956389" y="0"/>
                  </a:lnTo>
                  <a:lnTo>
                    <a:pt x="4956389" y="304748"/>
                  </a:lnTo>
                  <a:lnTo>
                    <a:pt x="0" y="304748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547720">
            <a:off x="859407" y="86188"/>
            <a:ext cx="1237771" cy="1894778"/>
            <a:chOff x="0" y="0"/>
            <a:chExt cx="281785" cy="4990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785" cy="499036"/>
            </a:xfrm>
            <a:custGeom>
              <a:avLst/>
              <a:gdLst/>
              <a:ahLst/>
              <a:cxnLst/>
              <a:rect l="l" t="t" r="r" b="b"/>
              <a:pathLst>
                <a:path w="281785" h="499036">
                  <a:moveTo>
                    <a:pt x="0" y="0"/>
                  </a:moveTo>
                  <a:lnTo>
                    <a:pt x="281785" y="0"/>
                  </a:lnTo>
                  <a:lnTo>
                    <a:pt x="281785" y="499036"/>
                  </a:lnTo>
                  <a:lnTo>
                    <a:pt x="0" y="4990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55" name="Picture 5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478000" y="106499"/>
            <a:ext cx="3961672" cy="1712610"/>
          </a:xfrm>
          <a:prstGeom prst="rect">
            <a:avLst/>
          </a:prstGeom>
        </p:spPr>
      </p:pic>
      <p:sp>
        <p:nvSpPr>
          <p:cNvPr id="56" name="TextBox 56"/>
          <p:cNvSpPr txBox="1"/>
          <p:nvPr/>
        </p:nvSpPr>
        <p:spPr>
          <a:xfrm>
            <a:off x="1007558" y="701240"/>
            <a:ext cx="897442" cy="91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05"/>
              </a:lnSpc>
            </a:pPr>
            <a:r>
              <a:rPr lang="en-US" sz="4865" spc="-17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</a:t>
            </a:r>
            <a:endParaRPr lang="en-US" sz="4865" spc="-17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2317115" y="899160"/>
            <a:ext cx="6440170" cy="547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15"/>
              </a:lnSpc>
            </a:pPr>
            <a:r>
              <a:rPr lang="zh-CN" altLang="en-US" sz="3510" spc="217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系统数学模型原理仿真</a:t>
            </a:r>
            <a:endParaRPr lang="zh-CN" altLang="en-US" sz="3510" spc="217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6732454" y="938125"/>
            <a:ext cx="1219015" cy="547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300"/>
              </a:lnSpc>
            </a:pPr>
            <a:r>
              <a:rPr lang="en-US" sz="3415" spc="-682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···</a:t>
            </a:r>
            <a:endParaRPr lang="en-US" sz="3415" spc="-682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191" y="2806311"/>
            <a:ext cx="7895809" cy="25289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102" y="2552831"/>
            <a:ext cx="6645216" cy="59441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96" y="644308"/>
            <a:ext cx="21771485" cy="1157092"/>
            <a:chOff x="0" y="0"/>
            <a:chExt cx="4956389" cy="3047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56389" cy="304748"/>
            </a:xfrm>
            <a:custGeom>
              <a:avLst/>
              <a:gdLst/>
              <a:ahLst/>
              <a:cxnLst/>
              <a:rect l="l" t="t" r="r" b="b"/>
              <a:pathLst>
                <a:path w="4956389" h="304748">
                  <a:moveTo>
                    <a:pt x="0" y="0"/>
                  </a:moveTo>
                  <a:lnTo>
                    <a:pt x="4956389" y="0"/>
                  </a:lnTo>
                  <a:lnTo>
                    <a:pt x="4956389" y="304748"/>
                  </a:lnTo>
                  <a:lnTo>
                    <a:pt x="0" y="304748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547720">
            <a:off x="859407" y="86188"/>
            <a:ext cx="1237771" cy="1894778"/>
            <a:chOff x="0" y="0"/>
            <a:chExt cx="281785" cy="4990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785" cy="499036"/>
            </a:xfrm>
            <a:custGeom>
              <a:avLst/>
              <a:gdLst/>
              <a:ahLst/>
              <a:cxnLst/>
              <a:rect l="l" t="t" r="r" b="b"/>
              <a:pathLst>
                <a:path w="281785" h="499036">
                  <a:moveTo>
                    <a:pt x="0" y="0"/>
                  </a:moveTo>
                  <a:lnTo>
                    <a:pt x="281785" y="0"/>
                  </a:lnTo>
                  <a:lnTo>
                    <a:pt x="281785" y="499036"/>
                  </a:lnTo>
                  <a:lnTo>
                    <a:pt x="0" y="4990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55" name="Picture 5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478000" y="106499"/>
            <a:ext cx="3961672" cy="1712610"/>
          </a:xfrm>
          <a:prstGeom prst="rect">
            <a:avLst/>
          </a:prstGeom>
        </p:spPr>
      </p:pic>
      <p:sp>
        <p:nvSpPr>
          <p:cNvPr id="56" name="TextBox 56"/>
          <p:cNvSpPr txBox="1"/>
          <p:nvPr/>
        </p:nvSpPr>
        <p:spPr>
          <a:xfrm>
            <a:off x="1007558" y="701240"/>
            <a:ext cx="897442" cy="788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05"/>
              </a:lnSpc>
            </a:pPr>
            <a:r>
              <a:rPr lang="en-US" sz="4865" spc="-17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05</a:t>
            </a:r>
            <a:endParaRPr lang="en-US" sz="4865" spc="-17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2317115" y="899160"/>
            <a:ext cx="6440170" cy="547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15"/>
              </a:lnSpc>
            </a:pPr>
            <a:r>
              <a:rPr lang="zh-CN" altLang="en-US" sz="3510" spc="217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第一周任务具体安排</a:t>
            </a:r>
            <a:endParaRPr lang="zh-CN" altLang="en-US" sz="3510" spc="217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6732454" y="938125"/>
            <a:ext cx="1219015" cy="547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300"/>
              </a:lnSpc>
            </a:pPr>
            <a:r>
              <a:rPr lang="en-US" sz="3415" spc="-682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···</a:t>
            </a:r>
            <a:endParaRPr lang="en-US" sz="3415" spc="-682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456279" y="1701213"/>
          <a:ext cx="16752504" cy="801311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278442"/>
                <a:gridCol w="685800"/>
                <a:gridCol w="7032824"/>
                <a:gridCol w="7755438"/>
              </a:tblGrid>
              <a:tr h="7539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角色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人员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任务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交付物（交付时间</a:t>
                      </a:r>
                      <a:r>
                        <a:rPr lang="en-US" sz="1800" kern="100">
                          <a:effectLst/>
                        </a:rPr>
                        <a:t>3</a:t>
                      </a:r>
                      <a:r>
                        <a:rPr lang="zh-CN" sz="1800" kern="100">
                          <a:effectLst/>
                        </a:rPr>
                        <a:t>月</a:t>
                      </a:r>
                      <a:r>
                        <a:rPr lang="en-US" sz="1800" kern="100">
                          <a:effectLst/>
                        </a:rPr>
                        <a:t>19</a:t>
                      </a:r>
                      <a:r>
                        <a:rPr lang="zh-CN" sz="1800" kern="100">
                          <a:effectLst/>
                        </a:rPr>
                        <a:t>日或</a:t>
                      </a:r>
                      <a:r>
                        <a:rPr lang="en-US" sz="1800" kern="100">
                          <a:effectLst/>
                        </a:rPr>
                        <a:t>18</a:t>
                      </a:r>
                      <a:r>
                        <a:rPr lang="zh-CN" sz="1800" kern="100">
                          <a:effectLst/>
                        </a:rPr>
                        <a:t>日，抽个空进行小组讨论）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</a:tr>
              <a:tr h="6878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组长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刘艳琦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、搭建</a:t>
                      </a:r>
                      <a:r>
                        <a:rPr lang="en-US" sz="1800" kern="100" dirty="0">
                          <a:effectLst/>
                        </a:rPr>
                        <a:t>MATLAB/Simulink</a:t>
                      </a:r>
                      <a:r>
                        <a:rPr lang="zh-CN" sz="1800" kern="100" dirty="0">
                          <a:effectLst/>
                        </a:rPr>
                        <a:t>一阶惯性</a:t>
                      </a:r>
                      <a:r>
                        <a:rPr lang="en-US" sz="1800" kern="100" dirty="0">
                          <a:effectLst/>
                        </a:rPr>
                        <a:t>+</a:t>
                      </a:r>
                      <a:r>
                        <a:rPr lang="zh-CN" sz="1800" kern="100" dirty="0">
                          <a:effectLst/>
                        </a:rPr>
                        <a:t>延迟模型</a:t>
                      </a:r>
                      <a:br>
                        <a:rPr lang="en-US" sz="1800" kern="100" dirty="0">
                          <a:effectLst/>
                        </a:rPr>
                      </a:b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、下载安装</a:t>
                      </a:r>
                      <a:r>
                        <a:rPr lang="en-US" sz="1800" kern="100" dirty="0">
                          <a:effectLst/>
                        </a:rPr>
                        <a:t>Proteus</a:t>
                      </a:r>
                      <a:r>
                        <a:rPr lang="zh-CN" sz="1800" kern="100" dirty="0">
                          <a:effectLst/>
                        </a:rPr>
                        <a:t>，弄清从新建项目到运行的全流程</a:t>
                      </a:r>
                      <a:r>
                        <a:rPr lang="zh-CN" altLang="en-US" sz="1800" kern="100" dirty="0">
                          <a:effectLst/>
                        </a:rPr>
                        <a:t>，尝试搭建硬件仿真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、可运行的仿真模型（跑通阶跃响应）</a:t>
                      </a:r>
                      <a:br>
                        <a:rPr lang="en-US" sz="1800" kern="100" dirty="0">
                          <a:effectLst/>
                        </a:rPr>
                      </a:b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、不同参数下的响应曲线截图</a:t>
                      </a:r>
                      <a:br>
                        <a:rPr lang="en-US" sz="1800" kern="100" dirty="0">
                          <a:effectLst/>
                        </a:rPr>
                      </a:b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、给大</a:t>
                      </a:r>
                      <a:r>
                        <a:rPr lang="zh-CN" altLang="en-US" sz="1800" kern="100" dirty="0">
                          <a:effectLst/>
                        </a:rPr>
                        <a:t>家</a:t>
                      </a:r>
                      <a:r>
                        <a:rPr lang="zh-CN" sz="1800" kern="100" dirty="0">
                          <a:effectLst/>
                        </a:rPr>
                        <a:t>讲明白自己做的是啥东西，啥意思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</a:tr>
              <a:tr h="2209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硬件工程师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刘炎彤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、物料准备（比如购买</a:t>
                      </a:r>
                      <a:r>
                        <a:rPr lang="en-US" sz="1800" kern="100" dirty="0">
                          <a:effectLst/>
                        </a:rPr>
                        <a:t>MAX31865</a:t>
                      </a:r>
                      <a:r>
                        <a:rPr lang="zh-CN" sz="1800" kern="100" dirty="0">
                          <a:effectLst/>
                        </a:rPr>
                        <a:t>、电源模块）</a:t>
                      </a:r>
                      <a:br>
                        <a:rPr lang="en-US" sz="1800" kern="100" dirty="0">
                          <a:effectLst/>
                        </a:rPr>
                      </a:b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、搞清硬件从</a:t>
                      </a:r>
                      <a:r>
                        <a:rPr lang="en-US" sz="1800" kern="100" dirty="0">
                          <a:effectLst/>
                        </a:rPr>
                        <a:t>kil5</a:t>
                      </a:r>
                      <a:r>
                        <a:rPr lang="zh-CN" sz="1800" kern="100" dirty="0">
                          <a:effectLst/>
                        </a:rPr>
                        <a:t>代码编写到烧录全流程（比如跑个点亮</a:t>
                      </a:r>
                      <a:r>
                        <a:rPr lang="en-US" sz="1800" kern="100" dirty="0">
                          <a:effectLst/>
                        </a:rPr>
                        <a:t>led</a:t>
                      </a:r>
                      <a:r>
                        <a:rPr lang="zh-CN" sz="1800" kern="100" dirty="0">
                          <a:effectLst/>
                        </a:rPr>
                        <a:t>灯的程序）</a:t>
                      </a:r>
                      <a:br>
                        <a:rPr lang="en-US" sz="1800" kern="100" dirty="0">
                          <a:effectLst/>
                        </a:rPr>
                      </a:b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、学习如何通过</a:t>
                      </a:r>
                      <a:r>
                        <a:rPr lang="en-US" sz="1800" kern="100" dirty="0">
                          <a:effectLst/>
                        </a:rPr>
                        <a:t>stm32</a:t>
                      </a:r>
                      <a:r>
                        <a:rPr lang="zh-CN" sz="1800" kern="100" dirty="0">
                          <a:effectLst/>
                        </a:rPr>
                        <a:t>使用</a:t>
                      </a:r>
                      <a:r>
                        <a:rPr lang="en-US" sz="1800" kern="100" dirty="0">
                          <a:effectLst/>
                        </a:rPr>
                        <a:t>OLED </a:t>
                      </a:r>
                      <a:r>
                        <a:rPr lang="zh-CN" sz="1800" kern="100" dirty="0">
                          <a:effectLst/>
                        </a:rPr>
                        <a:t>，</a:t>
                      </a:r>
                      <a:r>
                        <a:rPr lang="en-US" sz="1800" kern="100" dirty="0">
                          <a:effectLst/>
                        </a:rPr>
                        <a:t>MAX31865</a:t>
                      </a:r>
                      <a:r>
                        <a:rPr lang="zh-CN" sz="1800" kern="100" dirty="0">
                          <a:effectLst/>
                        </a:rPr>
                        <a:t>，学习如何调节</a:t>
                      </a:r>
                      <a:r>
                        <a:rPr lang="en-US" sz="1800" kern="100" dirty="0">
                          <a:effectLst/>
                        </a:rPr>
                        <a:t>PWM</a:t>
                      </a:r>
                      <a:r>
                        <a:rPr lang="zh-CN" sz="1800" kern="100" dirty="0">
                          <a:effectLst/>
                        </a:rPr>
                        <a:t>，</a:t>
                      </a:r>
                      <a:r>
                        <a:rPr lang="en-US" sz="1800" kern="100" dirty="0">
                          <a:effectLst/>
                        </a:rPr>
                        <a:t>PWM</a:t>
                      </a:r>
                      <a:r>
                        <a:rPr lang="zh-CN" sz="1800" kern="100" dirty="0">
                          <a:effectLst/>
                        </a:rPr>
                        <a:t>是干嘛的</a:t>
                      </a:r>
                      <a:br>
                        <a:rPr lang="en-US" sz="1800" kern="100" dirty="0">
                          <a:effectLst/>
                        </a:rPr>
                      </a:br>
                      <a:r>
                        <a:rPr lang="en-US" sz="1800" kern="100" dirty="0">
                          <a:effectLst/>
                        </a:rPr>
                        <a:t>4</a:t>
                      </a:r>
                      <a:r>
                        <a:rPr lang="zh-CN" sz="1800" kern="100" dirty="0">
                          <a:effectLst/>
                        </a:rPr>
                        <a:t>、学习了解</a:t>
                      </a:r>
                      <a:r>
                        <a:rPr lang="en-US" sz="1800" kern="100" dirty="0">
                          <a:effectLst/>
                        </a:rPr>
                        <a:t>H</a:t>
                      </a:r>
                      <a:r>
                        <a:rPr lang="zh-CN" sz="1800" kern="100" dirty="0">
                          <a:effectLst/>
                        </a:rPr>
                        <a:t>桥内容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</a:t>
                      </a:r>
                      <a:r>
                        <a:rPr lang="zh-CN" sz="1800" kern="100">
                          <a:effectLst/>
                        </a:rPr>
                        <a:t>、硬件基础运行演示</a:t>
                      </a:r>
                      <a:br>
                        <a:rPr lang="en-US" sz="1800" kern="100">
                          <a:effectLst/>
                        </a:rPr>
                      </a:br>
                      <a:r>
                        <a:rPr lang="en-US" sz="1800" kern="100">
                          <a:effectLst/>
                        </a:rPr>
                        <a:t>2</a:t>
                      </a:r>
                      <a:r>
                        <a:rPr lang="zh-CN" sz="1800" kern="100">
                          <a:effectLst/>
                        </a:rPr>
                        <a:t>、给大家讲讲</a:t>
                      </a:r>
                      <a:r>
                        <a:rPr lang="en-US" sz="1800" kern="100">
                          <a:effectLst/>
                        </a:rPr>
                        <a:t>kile5</a:t>
                      </a:r>
                      <a:r>
                        <a:rPr lang="zh-CN" sz="1800" kern="100">
                          <a:effectLst/>
                        </a:rPr>
                        <a:t>怎么用的全流程</a:t>
                      </a:r>
                      <a:br>
                        <a:rPr lang="en-US" sz="1800" kern="100">
                          <a:effectLst/>
                        </a:rPr>
                      </a:br>
                      <a:r>
                        <a:rPr lang="en-US" sz="1800" kern="100">
                          <a:effectLst/>
                        </a:rPr>
                        <a:t>3</a:t>
                      </a:r>
                      <a:r>
                        <a:rPr lang="zh-CN" sz="1800" kern="100">
                          <a:effectLst/>
                        </a:rPr>
                        <a:t>、给大家讲解比如</a:t>
                      </a:r>
                      <a:r>
                        <a:rPr lang="en-US" sz="1800" kern="100">
                          <a:effectLst/>
                        </a:rPr>
                        <a:t>MAX31865</a:t>
                      </a:r>
                      <a:r>
                        <a:rPr lang="zh-CN" sz="1800" kern="100">
                          <a:effectLst/>
                        </a:rPr>
                        <a:t>、</a:t>
                      </a:r>
                      <a:r>
                        <a:rPr lang="en-US" sz="1800" kern="100">
                          <a:effectLst/>
                        </a:rPr>
                        <a:t>H</a:t>
                      </a:r>
                      <a:r>
                        <a:rPr lang="zh-CN" sz="1800" kern="100">
                          <a:effectLst/>
                        </a:rPr>
                        <a:t>桥是什么东西，用来干嘛的</a:t>
                      </a:r>
                      <a:endParaRPr lang="zh-CN" sz="18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r>
                        <a:rPr lang="zh-CN" sz="1800" kern="100">
                          <a:effectLst/>
                        </a:rPr>
                        <a:t>、测试电源正常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</a:tr>
              <a:tr h="7470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嵌入式工程师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刘研硕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 vMerge="1">
                  <a:tcPr/>
                </a:tc>
                <a:tc vMerge="1">
                  <a:tcPr/>
                </a:tc>
              </a:tr>
              <a:tr h="10172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测试分析师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邢珂晨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、下载串口助手（</a:t>
                      </a:r>
                      <a:r>
                        <a:rPr lang="en-US" sz="1800" kern="100" dirty="0">
                          <a:effectLst/>
                        </a:rPr>
                        <a:t>SSCOM/XCOM</a:t>
                      </a:r>
                      <a:r>
                        <a:rPr lang="zh-CN" sz="1800" kern="100" dirty="0">
                          <a:effectLst/>
                        </a:rPr>
                        <a:t>）学习如何使用</a:t>
                      </a:r>
                      <a:br>
                        <a:rPr lang="en-US" sz="1800" kern="100" dirty="0">
                          <a:effectLst/>
                        </a:rPr>
                      </a:b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、学习什么是开环测试、如何记录温度响应曲线、什么是</a:t>
                      </a:r>
                      <a:r>
                        <a:rPr lang="en-US" sz="1800" kern="100" dirty="0">
                          <a:effectLst/>
                        </a:rPr>
                        <a:t>PWM</a:t>
                      </a:r>
                      <a:r>
                        <a:rPr lang="zh-CN" sz="1800" kern="100" dirty="0">
                          <a:effectLst/>
                        </a:rPr>
                        <a:t>，是干嘛的</a:t>
                      </a:r>
                      <a:endParaRPr lang="zh-CN" sz="18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、给出本项目的开环测试计划文档（计划测几组</a:t>
                      </a:r>
                      <a:r>
                        <a:rPr lang="en-US" sz="1800" kern="100" dirty="0">
                          <a:effectLst/>
                        </a:rPr>
                        <a:t>PWM</a:t>
                      </a:r>
                      <a:r>
                        <a:rPr lang="zh-CN" sz="1800" kern="100" dirty="0">
                          <a:effectLst/>
                        </a:rPr>
                        <a:t>？每组记录多长时间？）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、下载好串口助手，给大家讲一下是用来干嘛的，怎么用</a:t>
                      </a:r>
                      <a:endParaRPr lang="zh-CN" sz="18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、给大家讲什么是开环测试，用来干嘛的，给大家讲开环测试计划的思路是什么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</a:tr>
              <a:tr h="9207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文档专员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800" kern="100">
                          <a:effectLst/>
                        </a:rPr>
                        <a:t>徐子茜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、建立项目资料的共享文件夹（去网上查一下哪个工具比较好用比较合适，教给大家用）</a:t>
                      </a:r>
                      <a:endParaRPr lang="zh-CN" sz="18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、整理所有参考资料进共享文件夹</a:t>
                      </a:r>
                      <a:endParaRPr lang="zh-CN" sz="18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、学习使用</a:t>
                      </a:r>
                      <a:r>
                        <a:rPr lang="en-US" sz="1800" kern="100" dirty="0" err="1">
                          <a:effectLst/>
                        </a:rPr>
                        <a:t>github</a:t>
                      </a:r>
                      <a:r>
                        <a:rPr lang="zh-CN" sz="1800" kern="100" dirty="0">
                          <a:effectLst/>
                        </a:rPr>
                        <a:t>（或其他工具）进行代码管理，整理大家在学习过程和项目推进过程中的每一版代码</a:t>
                      </a:r>
                      <a:endParaRPr lang="zh-CN" sz="18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、会议记录，整理</a:t>
                      </a:r>
                      <a:r>
                        <a:rPr lang="en-US" sz="1800" kern="100" dirty="0">
                          <a:effectLst/>
                        </a:rPr>
                        <a:t>3.19</a:t>
                      </a:r>
                      <a:r>
                        <a:rPr lang="zh-CN" sz="1800" kern="100" dirty="0">
                          <a:effectLst/>
                        </a:rPr>
                        <a:t>会议纪要及本周进度</a:t>
                      </a:r>
                      <a:endParaRPr lang="zh-CN" sz="18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4</a:t>
                      </a:r>
                      <a:r>
                        <a:rPr lang="zh-CN" sz="1800" kern="100" dirty="0">
                          <a:effectLst/>
                        </a:rPr>
                        <a:t>、做</a:t>
                      </a:r>
                      <a:r>
                        <a:rPr lang="en-US" sz="1800" kern="100" dirty="0">
                          <a:effectLst/>
                        </a:rPr>
                        <a:t>3.20</a:t>
                      </a:r>
                      <a:r>
                        <a:rPr lang="zh-CN" sz="1800" kern="100" dirty="0">
                          <a:effectLst/>
                        </a:rPr>
                        <a:t>汇报</a:t>
                      </a:r>
                      <a:r>
                        <a:rPr lang="en-US" sz="1800" kern="100" dirty="0">
                          <a:effectLst/>
                        </a:rPr>
                        <a:t>PPT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、教大家用共享文件夹</a:t>
                      </a:r>
                      <a:endParaRPr lang="zh-CN" sz="18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、教大家如何使用</a:t>
                      </a:r>
                      <a:r>
                        <a:rPr lang="en-US" sz="1800" kern="100" dirty="0" err="1">
                          <a:effectLst/>
                        </a:rPr>
                        <a:t>github</a:t>
                      </a:r>
                      <a:r>
                        <a:rPr lang="zh-CN" sz="1800" kern="100" dirty="0">
                          <a:effectLst/>
                        </a:rPr>
                        <a:t>（或其他工具）进行代码管理</a:t>
                      </a:r>
                      <a:endParaRPr lang="zh-CN" sz="18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、会议纪要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439" marR="66439" marT="66439" marB="66439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33942" y="43464"/>
            <a:ext cx="7381120" cy="10287000"/>
            <a:chOff x="0" y="0"/>
            <a:chExt cx="194399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3999" cy="2709333"/>
            </a:xfrm>
            <a:custGeom>
              <a:avLst/>
              <a:gdLst/>
              <a:ahLst/>
              <a:cxnLst/>
              <a:rect l="l" t="t" r="r" b="b"/>
              <a:pathLst>
                <a:path w="1943999" h="2709333">
                  <a:moveTo>
                    <a:pt x="0" y="0"/>
                  </a:moveTo>
                  <a:lnTo>
                    <a:pt x="1943999" y="0"/>
                  </a:lnTo>
                  <a:lnTo>
                    <a:pt x="19439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3184" y="1965426"/>
            <a:ext cx="14309421" cy="6994221"/>
            <a:chOff x="0" y="0"/>
            <a:chExt cx="3768736" cy="18420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68736" cy="1842099"/>
            </a:xfrm>
            <a:custGeom>
              <a:avLst/>
              <a:gdLst/>
              <a:ahLst/>
              <a:cxnLst/>
              <a:rect l="l" t="t" r="r" b="b"/>
              <a:pathLst>
                <a:path w="3768736" h="1842099">
                  <a:moveTo>
                    <a:pt x="0" y="0"/>
                  </a:moveTo>
                  <a:lnTo>
                    <a:pt x="3768736" y="0"/>
                  </a:lnTo>
                  <a:lnTo>
                    <a:pt x="3768736" y="1842099"/>
                  </a:lnTo>
                  <a:lnTo>
                    <a:pt x="0" y="1842099"/>
                  </a:lnTo>
                  <a:close/>
                </a:path>
              </a:pathLst>
            </a:custGeom>
            <a:solidFill>
              <a:srgbClr val="9D010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3497" y="1790062"/>
            <a:ext cx="14309421" cy="6994221"/>
            <a:chOff x="0" y="0"/>
            <a:chExt cx="3768736" cy="18420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68736" cy="1842099"/>
            </a:xfrm>
            <a:custGeom>
              <a:avLst/>
              <a:gdLst/>
              <a:ahLst/>
              <a:cxnLst/>
              <a:rect l="l" t="t" r="r" b="b"/>
              <a:pathLst>
                <a:path w="3768736" h="1842099">
                  <a:moveTo>
                    <a:pt x="0" y="0"/>
                  </a:moveTo>
                  <a:lnTo>
                    <a:pt x="3768736" y="0"/>
                  </a:lnTo>
                  <a:lnTo>
                    <a:pt x="3768736" y="1842099"/>
                  </a:lnTo>
                  <a:lnTo>
                    <a:pt x="0" y="18420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47029" y="7496545"/>
            <a:ext cx="2410399" cy="931930"/>
            <a:chOff x="0" y="0"/>
            <a:chExt cx="3213865" cy="1242574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3213865" cy="733980"/>
              <a:chOff x="0" y="0"/>
              <a:chExt cx="630757" cy="14405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30757" cy="144052"/>
              </a:xfrm>
              <a:custGeom>
                <a:avLst/>
                <a:gdLst/>
                <a:ahLst/>
                <a:cxnLst/>
                <a:rect l="l" t="t" r="r" b="b"/>
                <a:pathLst>
                  <a:path w="630757" h="144052">
                    <a:moveTo>
                      <a:pt x="0" y="0"/>
                    </a:moveTo>
                    <a:lnTo>
                      <a:pt x="630757" y="0"/>
                    </a:lnTo>
                    <a:lnTo>
                      <a:pt x="630757" y="144052"/>
                    </a:lnTo>
                    <a:lnTo>
                      <a:pt x="0" y="144052"/>
                    </a:lnTo>
                    <a:close/>
                  </a:path>
                </a:pathLst>
              </a:custGeom>
              <a:solidFill>
                <a:srgbClr val="9D0101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5"/>
                  </a:lnSpc>
                </a:pPr>
                <a:endParaRPr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30179" y="73327"/>
              <a:ext cx="3052701" cy="1169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20"/>
                </a:lnSpc>
              </a:pPr>
              <a:r>
                <a:rPr lang="en-US" sz="244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汇报人：</a:t>
              </a:r>
              <a:r>
                <a:rPr lang="zh-CN" altLang="en-US" sz="244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刘艳琦</a:t>
              </a:r>
              <a:r>
                <a:rPr lang="en-US" sz="244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	er	er</a:t>
              </a:r>
              <a:endParaRPr lang="en-US" sz="244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82564" y="4801349"/>
            <a:ext cx="6209600" cy="557997"/>
            <a:chOff x="0" y="0"/>
            <a:chExt cx="21298506" cy="19138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298506" cy="1913890"/>
            </a:xfrm>
            <a:custGeom>
              <a:avLst/>
              <a:gdLst/>
              <a:ahLst/>
              <a:cxnLst/>
              <a:rect l="l" t="t" r="r" b="b"/>
              <a:pathLst>
                <a:path w="21298506" h="1913890">
                  <a:moveTo>
                    <a:pt x="21174046" y="59690"/>
                  </a:moveTo>
                  <a:cubicBezTo>
                    <a:pt x="21209606" y="59690"/>
                    <a:pt x="21238815" y="88900"/>
                    <a:pt x="21238815" y="124460"/>
                  </a:cubicBezTo>
                  <a:lnTo>
                    <a:pt x="21238815" y="1789430"/>
                  </a:lnTo>
                  <a:cubicBezTo>
                    <a:pt x="21238815" y="1824990"/>
                    <a:pt x="21209606" y="1854200"/>
                    <a:pt x="21174046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174046" y="59690"/>
                  </a:lnTo>
                  <a:moveTo>
                    <a:pt x="211740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21174046" y="1913890"/>
                  </a:lnTo>
                  <a:cubicBezTo>
                    <a:pt x="21242626" y="1913890"/>
                    <a:pt x="21298506" y="1858010"/>
                    <a:pt x="21298506" y="1789430"/>
                  </a:cubicBezTo>
                  <a:lnTo>
                    <a:pt x="21298506" y="124460"/>
                  </a:lnTo>
                  <a:cubicBezTo>
                    <a:pt x="21298506" y="55880"/>
                    <a:pt x="21242626" y="0"/>
                    <a:pt x="211740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40336" y="43464"/>
            <a:ext cx="3061452" cy="3061452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248662" y="4229304"/>
            <a:ext cx="5418437" cy="150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70"/>
              </a:lnSpc>
            </a:pPr>
            <a:r>
              <a:rPr lang="en-US" sz="9260" spc="35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谢谢观看</a:t>
            </a:r>
            <a:endParaRPr lang="en-US" sz="9260" spc="35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76394" y="1946376"/>
            <a:ext cx="1234773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000" spc="-800">
                <a:solidFill>
                  <a:srgbClr val="9D010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···</a:t>
            </a:r>
            <a:endParaRPr lang="en-US" sz="4000" spc="-800">
              <a:solidFill>
                <a:srgbClr val="9D010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2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3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4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5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6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7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8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9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10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11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12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13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14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15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16.xml><?xml version="1.0" encoding="utf-8"?>
<p:tagLst xmlns:p="http://schemas.openxmlformats.org/presentationml/2006/main">
  <p:tag name="KSO_WM_DIAGRAM_VIRTUALLY_FRAME" val="{&quot;height&quot;:583.6546456692913,&quot;left&quot;:484.83724409448814,&quot;top&quot;:128.9763779527559,&quot;width&quot;:691.9453543307088}"/>
</p:tagLst>
</file>

<file path=ppt/tags/tag17.xml><?xml version="1.0" encoding="utf-8"?>
<p:tagLst xmlns:p="http://schemas.openxmlformats.org/presentationml/2006/main">
  <p:tag name="TABLE_ENDDRAG_ORIGIN_RECT" val="1190*517"/>
  <p:tag name="TABLE_ENDDRAG_RECT" val="103*178*1190*517"/>
</p:tagLst>
</file>

<file path=ppt/tags/tag18.xml><?xml version="1.0" encoding="utf-8"?>
<p:tagLst xmlns:p="http://schemas.openxmlformats.org/presentationml/2006/main">
  <p:tag name="TABLE_ENDDRAG_ORIGIN_RECT" val="1262*565"/>
  <p:tag name="TABLE_ENDDRAG_RECT" val="97*169*1262*565"/>
</p:tagLst>
</file>

<file path=ppt/tags/tag19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20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21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22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23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24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25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26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27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28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29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30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31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32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33.xml><?xml version="1.0" encoding="utf-8"?>
<p:tagLst xmlns:p="http://schemas.openxmlformats.org/presentationml/2006/main">
  <p:tag name="KSO_WM_DIAGRAM_VIRTUALLY_FRAME" val="{&quot;height&quot;:606.45,&quot;left&quot;:745.35,&quot;top&quot;:164.15,&quot;width&quot;:664.45}"/>
</p:tagLst>
</file>

<file path=ppt/tags/tag34.xml><?xml version="1.0" encoding="utf-8"?>
<p:tagLst xmlns:p="http://schemas.openxmlformats.org/presentationml/2006/main">
  <p:tag name="TABLE_ENDDRAG_ORIGIN_RECT" val="1107*506"/>
  <p:tag name="TABLE_ENDDRAG_RECT" val="176*206*1107*50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2237</Words>
  <Application>WPS 演示</Application>
  <PresentationFormat>自定义</PresentationFormat>
  <Paragraphs>330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新愚公装甲宋A</vt:lpstr>
      <vt:lpstr>等线</vt:lpstr>
      <vt:lpstr>Times New Roman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白红色商务企业介绍年终活动复盘演示文稿	</dc:title>
  <dc:creator/>
  <cp:lastModifiedBy>Lenovo</cp:lastModifiedBy>
  <cp:revision>29</cp:revision>
  <dcterms:created xsi:type="dcterms:W3CDTF">2006-08-16T00:00:00Z</dcterms:created>
  <dcterms:modified xsi:type="dcterms:W3CDTF">2026-03-13T09:53:29Z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41794248027B4AA9B90DCE933EF5D14B_13</vt:lpwstr>
  </property>
  <property fmtid="{D5CDD505-2E9C-101B-9397-08002B2CF9AE}" pid="3" name="KSOProductBuildVer">
    <vt:lpwstr>2052-12.1.0.24034</vt:lpwstr>
  </property>
</Properties>
</file>